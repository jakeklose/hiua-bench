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p:scale>
          <a:sx n="100" d="100"/>
          <a:sy n="100" d="100"/>
        </p:scale>
        <p:origin x="-256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46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 seconds — title staging only]</a:t>
            </a:r>
          </a:p>
          <a:p>
            <a:endParaRPr/>
          </a:p>
          <a:p>
            <a:r>
              <a:t>Walk to lectern. Adjust mic. Click forward to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seconds — opening hook, reframed]</a:t>
            </a:r>
          </a:p>
          <a:p>
            <a:endParaRPr/>
          </a:p>
          <a:p>
            <a:r>
              <a:t>Research over the past eighteen months has documented that LLM agents fail at safety-relevant tasks. RoboPAIR achieved near-perfect attack success on three commercial robot platforms. ARMOR found that twenty-one commercial LLMs fail military-doctrine grounding. Anthropic's own red team found Claude Opus four chose blackmail in ninety-six percent of relevant scenarios.</a:t>
            </a:r>
          </a:p>
          <a:p>
            <a:endParaRPr/>
          </a:p>
          <a:p>
            <a:r>
              <a:t>But the research does not specify when these failures are caused by hallucination, when they are adversarial jailbreaks, when the model knew the rule and broke it anyway, and when the policy was simply absent from context. Those are different mechanisms with different appropriate interventions. Today's benchmarks collapse them into single aggregate violation rates.</a:t>
            </a:r>
          </a:p>
          <a:p>
            <a:endParaRPr/>
          </a:p>
          <a:p>
            <a:r>
              <a:t>We built a benchmark to isolate one of these mechanisms — the one most relevant to deployment in irreversible-action settings: the conditional rate at which an agent hallucinates and then crosses a rule it could otherwise restate verbatim.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seconds — construct definition]</a:t>
            </a:r>
          </a:p>
          <a:p>
            <a:endParaRPr/>
          </a:p>
          <a:p>
            <a:r>
              <a:t>We formalize that construct as Hallucination-Induced Unauthorized Action, HIUA. Formally: the conditional rate at which an agent, having hallucinated and with the prohibition salient in its context, executes a forbidden action.</a:t>
            </a:r>
          </a:p>
          <a:p>
            <a:endParaRPr/>
          </a:p>
          <a:p>
            <a:r>
              <a:t>The construct is sharpened by what it is not. Lucid violation, or knows-but-violates: the model recalled the rule and broke it anyway, which DriftBench documents with rates from eight to ninety-nine percent across models. Jailbreak compliance: an adversary explicitly instructed the harmful action — AgentHarm, RoboPAIR. Over-refusal: the model refused a permitted action — OR-Bench. Policy-invisible violation: the policy was absent from context — PhantomPolicy.</a:t>
            </a:r>
          </a:p>
          <a:p>
            <a:endParaRPr/>
          </a:p>
          <a:p>
            <a:r>
              <a:t>A measurement that cannot partition these four neighbors from HIUA is measuring a confounded construct. The same observed violation rate can be produced by five distinct mechanisms with five distinct appropriate interventions.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seconds — audit]</a:t>
            </a:r>
          </a:p>
          <a:p>
            <a:endParaRPr/>
          </a:p>
          <a:p>
            <a:r>
              <a:t>We audited nine prior instruments against Messick's six aspects of validity. (Point to the Substantive column.)</a:t>
            </a:r>
          </a:p>
          <a:p>
            <a:endParaRPr/>
          </a:p>
          <a:p>
            <a:r>
              <a:t>The substantive aspect — the cognitive-process claim that hallucination caused the violation rather than merely co-occurring with it — is essentially undefended in the surveyed corpus. DriftBench and HEAL are partial. Every other instrument is unaddressed.</a:t>
            </a:r>
          </a:p>
          <a:p>
            <a:endParaRPr/>
          </a:p>
          <a:p>
            <a:r>
              <a:t>ToolEmu and Agent-SafetyBench score outcomes only. R-Judge measures whether a judge LLM can identify the issue post-hoc, which is a different cognitive process under test. None of them analyze the agent's intermediate reasoning for the presence or character of a hallucination.</a:t>
            </a:r>
          </a:p>
          <a:p>
            <a:endParaRPr/>
          </a:p>
          <a:p>
            <a:r>
              <a:t>HIUA-Bench, our proposed instrument, covers Content, Substantive, Structural, and Consequential aspects by design; we provide partial coverage on Generalizability and External pending the full multi-seed run.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[75 seconds — design and headline empirical result]</a:t>
            </a:r>
          </a:p>
          <a:p>
            <a:endParaRPr/>
          </a:p>
          <a:p>
            <a:r>
              <a:t>HIUA-Bench is a three-by-three-by-four factorial: three hallucination sub-types (authorization, state, tool); three prohibition-salience levels (early-system, mid-system, tool-docstring); four task domains spanning the digital-to-embodied gradient. Three measurements per trial: simulator-verified outcome, judge-ensemble hallucination label on the chain of thought, and a recall probe in fresh context. Reliability reported through Generalizability Theory across persons, items, raters, and occasions.</a:t>
            </a:r>
          </a:p>
          <a:p>
            <a:endParaRPr/>
          </a:p>
          <a:p>
            <a:r>
              <a:t>We piloted against six open-weights models on Groq's hosted inference, one hundred forty-four trials.</a:t>
            </a:r>
          </a:p>
          <a:p>
            <a:endParaRPr/>
          </a:p>
          <a:p>
            <a:r>
              <a:t>The headline finding is the salience effect. Collapsing the three design levels into a binary contrast, low salience produced a twenty-three point three percent violation rate against one point two percent at high salience — a nineteen-times difference. The pilot's two-by-four-by-two partition produced non-trivial occupancy in both HIUA and KBV cells, eleven and four trials respectively, providing direct evidence that the cells are operationally distinguishable rather than reducing to a single mechanism.</a:t>
            </a:r>
          </a:p>
          <a:p>
            <a:endParaRPr/>
          </a:p>
          <a:p>
            <a:r>
              <a:t>This is single-seed, kappa point four-one-nine on the most-reliable judge pair, and the per-model rates lack standard errors. We are explicit about what the pilot does and does not establish.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seconds — closing]</a:t>
            </a:r>
          </a:p>
          <a:p>
            <a:endParaRPr/>
          </a:p>
          <a:p>
            <a:r>
              <a:t>A validity audit cannot decide whether a model is safe to deploy. It can decide which deployment claims a benchmark licenses.</a:t>
            </a:r>
          </a:p>
          <a:p>
            <a:endParaRPr/>
          </a:p>
          <a:p>
            <a:r>
              <a:t>A properly-measured HIUA score supports a bounded conditional claim: this agent will not, above rate alpha, hallucinate authorization, state, or tool effect and execute a forbidden action in distribution D. Different mechanisms imply different interventions — faithfulness work for hallucinated authorization, perception-grounding for hallucinated state, instruction-following for lucid violation.</a:t>
            </a:r>
          </a:p>
          <a:p>
            <a:endParaRPr/>
          </a:p>
          <a:p>
            <a:r>
              <a:t>For developers and infrastructure providers, this matters because the choice between those interventions is not free. Today's aggregate violation rate cannot tell a model developer whether the right fix is a faithfulness improvement, a context-engineering improvement, or an instruction-following improvement. HIUA-Bench produces that partition. The customers are model labs running pre-deployment audits, and agent infrastructure providers shipping autonomous workflows into financial, embodied, and other irreversible-action settings.</a:t>
            </a:r>
          </a:p>
          <a:p>
            <a:endParaRPr/>
          </a:p>
          <a:p>
            <a:r>
              <a:t>It does not support broader safety claims, narrower safety claims, or transfer from digital sandbox to physical or lethal deployment. The pilot is digital-only.</a:t>
            </a:r>
          </a:p>
          <a:p>
            <a:endParaRPr/>
          </a:p>
          <a:p>
            <a:r>
              <a:t>Our consequential recommendation: gated release with AgentHarm-style harm-score controls, no public leaderboard, accompanied by a developer-signed deployment-claim audit. Make consequential validity an explicit object of test-developer responsibility.</a:t>
            </a:r>
          </a:p>
          <a:p>
            <a:endParaRPr/>
          </a:p>
          <a:p>
            <a:r>
              <a:t>Thank you. (Stop. Do not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4F4"/>
          </a:solidFill>
          <a:ln w="12700">
            <a:solidFill>
              <a:srgbClr val="FFFFFF">
                <a:alpha val="0"/>
              </a:srgbClr>
            </a:solidFill>
            <a:prstDash val="solid"/>
          </a:ln>
        </p:spPr>
        <p:txBody>
          <a:bodyPr/>
          <a:lstStyle/>
          <a:p>
            <a:endParaRPr/>
          </a:p>
        </p:txBody>
      </p:sp>
      <p:pic>
        <p:nvPicPr>
          <p:cNvPr id="4" name="Image 0" descr="gen-dedup-d72f321e04a395868883ef2205eca169.png"/>
          <p:cNvPicPr>
            <a:picLocks noChangeAspect="1"/>
          </p:cNvPicPr>
          <p:nvPr/>
        </p:nvPicPr>
        <p:blipFill>
          <a:blip r:embed="rId3"/>
          <a:srcRect t="-429" b="-429"/>
          <a:stretch/>
        </p:blipFill>
        <p:spPr>
          <a:xfrm>
            <a:off x="17220895" y="1371600"/>
            <a:ext cx="533095" cy="19202"/>
          </a:xfrm>
          <a:prstGeom prst="rect">
            <a:avLst/>
          </a:prstGeom>
        </p:spPr>
      </p:pic>
      <p:pic>
        <p:nvPicPr>
          <p:cNvPr id="5" name="Image 1" descr="gen-dedup-b88fe25b682e026cc55145c419e90482.png"/>
          <p:cNvPicPr>
            <a:picLocks noChangeAspect="1"/>
          </p:cNvPicPr>
          <p:nvPr/>
        </p:nvPicPr>
        <p:blipFill>
          <a:blip r:embed="rId4"/>
          <a:srcRect l="-404" r="-404"/>
          <a:stretch/>
        </p:blipFill>
        <p:spPr>
          <a:xfrm>
            <a:off x="1524305" y="6933895"/>
            <a:ext cx="1143000" cy="28346"/>
          </a:xfrm>
          <a:prstGeom prst="rect">
            <a:avLst/>
          </a:prstGeom>
        </p:spPr>
      </p:pic>
      <p:sp>
        <p:nvSpPr>
          <p:cNvPr id="6" name="Text 2"/>
          <p:cNvSpPr txBox="1"/>
          <p:nvPr/>
        </p:nvSpPr>
        <p:spPr>
          <a:xfrm>
            <a:off x="1524305" y="3619195"/>
            <a:ext cx="15240305" cy="277063"/>
          </a:xfrm>
          <a:prstGeom prst="rect">
            <a:avLst/>
          </a:prstGeom>
          <a:noFill/>
          <a:ln/>
        </p:spPr>
        <p:txBody>
          <a:bodyPr wrap="square" lIns="0" tIns="0" rIns="0" bIns="0" rtlCol="0" anchor="ctr"/>
          <a:lstStyle/>
          <a:p>
            <a:pPr marL="0" indent="0" algn="l">
              <a:buNone/>
            </a:pPr>
            <a:r>
              <a:rPr lang="en-US" sz="1800" kern="0" spc="450" dirty="0">
                <a:solidFill>
                  <a:srgbClr val="8C1515"/>
                </a:solidFill>
                <a:latin typeface="Calibri" pitchFamily="34" charset="0"/>
                <a:ea typeface="Calibri" pitchFamily="34" charset="-122"/>
                <a:cs typeface="Calibri" pitchFamily="34" charset="-120"/>
              </a:rPr>
              <a:t>Validity Audit · Working Paper</a:t>
            </a:r>
            <a:endParaRPr lang="en-US" sz="1800" dirty="0"/>
          </a:p>
        </p:txBody>
      </p:sp>
      <p:sp>
        <p:nvSpPr>
          <p:cNvPr id="7" name="Text 3"/>
          <p:cNvSpPr txBox="1"/>
          <p:nvPr/>
        </p:nvSpPr>
        <p:spPr>
          <a:xfrm>
            <a:off x="1524305" y="4114800"/>
            <a:ext cx="15240305" cy="1666951"/>
          </a:xfrm>
          <a:prstGeom prst="rect">
            <a:avLst/>
          </a:prstGeom>
          <a:noFill/>
          <a:ln/>
        </p:spPr>
        <p:txBody>
          <a:bodyPr wrap="square" lIns="0" tIns="0" rIns="0" bIns="0" rtlCol="0" anchor="ctr"/>
          <a:lstStyle/>
          <a:p>
            <a:pPr marL="0" indent="0" algn="l">
              <a:buNone/>
            </a:pPr>
            <a:r>
              <a:rPr lang="en-US" sz="5800" kern="0" spc="-75" dirty="0">
                <a:solidFill>
                  <a:srgbClr val="2E2D29"/>
                </a:solidFill>
                <a:latin typeface="Georgia" pitchFamily="34" charset="0"/>
                <a:ea typeface="Georgia" pitchFamily="34" charset="-122"/>
                <a:cs typeface="Georgia" pitchFamily="34" charset="-120"/>
              </a:rPr>
              <a:t>A Validity Audit of Hallucination-Induced</a:t>
            </a:r>
            <a:endParaRPr lang="en-US" sz="5800" dirty="0"/>
          </a:p>
          <a:p>
            <a:pPr marL="0" indent="0" algn="l">
              <a:buNone/>
            </a:pPr>
            <a:r>
              <a:rPr lang="en-US" sz="5800" kern="0" spc="-75" dirty="0">
                <a:solidFill>
                  <a:srgbClr val="2E2D29"/>
                </a:solidFill>
                <a:latin typeface="Georgia" pitchFamily="34" charset="0"/>
                <a:ea typeface="Georgia" pitchFamily="34" charset="-122"/>
                <a:cs typeface="Georgia" pitchFamily="34" charset="-120"/>
              </a:rPr>
              <a:t>Unauthorized Action in LLM Agents </a:t>
            </a:r>
            <a:endParaRPr lang="en-US" sz="5800" dirty="0"/>
          </a:p>
        </p:txBody>
      </p:sp>
      <p:sp>
        <p:nvSpPr>
          <p:cNvPr id="8" name="Text 4"/>
          <p:cNvSpPr txBox="1"/>
          <p:nvPr/>
        </p:nvSpPr>
        <p:spPr>
          <a:xfrm>
            <a:off x="1524305" y="7239305"/>
            <a:ext cx="15240305" cy="457200"/>
          </a:xfrm>
          <a:prstGeom prst="rect">
            <a:avLst/>
          </a:prstGeom>
          <a:noFill/>
          <a:ln/>
        </p:spPr>
        <p:txBody>
          <a:bodyPr wrap="square" lIns="0" tIns="0" rIns="0" bIns="0" rtlCol="0" anchor="ctr"/>
          <a:lstStyle/>
          <a:p>
            <a:pPr marL="0" indent="0" algn="l">
              <a:buNone/>
            </a:pPr>
            <a:r>
              <a:rPr lang="en-US" sz="2500" dirty="0">
                <a:solidFill>
                  <a:srgbClr val="2E2D29"/>
                </a:solidFill>
                <a:latin typeface="Calibri" pitchFamily="34" charset="0"/>
                <a:ea typeface="Calibri" pitchFamily="34" charset="-122"/>
                <a:cs typeface="Calibri" pitchFamily="34" charset="-120"/>
              </a:rPr>
              <a:t>Jake Klosowski · Michelle Campeau</a:t>
            </a:r>
            <a:endParaRPr lang="en-US" sz="2500" dirty="0"/>
          </a:p>
        </p:txBody>
      </p:sp>
      <p:sp>
        <p:nvSpPr>
          <p:cNvPr id="9" name="Text 5"/>
          <p:cNvSpPr txBox="1"/>
          <p:nvPr/>
        </p:nvSpPr>
        <p:spPr>
          <a:xfrm>
            <a:off x="1524305" y="7810805"/>
            <a:ext cx="15240305" cy="342900"/>
          </a:xfrm>
          <a:prstGeom prst="rect">
            <a:avLst/>
          </a:prstGeom>
          <a:noFill/>
          <a:ln/>
        </p:spPr>
        <p:txBody>
          <a:bodyPr wrap="square" lIns="0" tIns="0" rIns="0" bIns="0" rtlCol="0" anchor="ctr"/>
          <a:lstStyle/>
          <a:p>
            <a:pPr marL="0" indent="0" algn="l">
              <a:buNone/>
            </a:pPr>
            <a:r>
              <a:rPr lang="en-US" sz="1800" dirty="0">
                <a:solidFill>
                  <a:srgbClr val="6B6A65"/>
                </a:solidFill>
                <a:latin typeface="Calibri" pitchFamily="34" charset="0"/>
                <a:ea typeface="Calibri" pitchFamily="34" charset="-122"/>
                <a:cs typeface="Calibri" pitchFamily="34" charset="-120"/>
              </a:rPr>
              <a:t>Stanford University · CS321M: AI Measurement Science · June 3, 2026</a:t>
            </a:r>
            <a:endParaRPr lang="en-US" sz="1800" dirty="0"/>
          </a:p>
        </p:txBody>
      </p:sp>
      <p:sp>
        <p:nvSpPr>
          <p:cNvPr id="10" name="Text 6"/>
          <p:cNvSpPr txBox="1"/>
          <p:nvPr/>
        </p:nvSpPr>
        <p:spPr>
          <a:xfrm>
            <a:off x="1524305" y="9334195"/>
            <a:ext cx="15240305" cy="219456"/>
          </a:xfrm>
          <a:prstGeom prst="rect">
            <a:avLst/>
          </a:prstGeom>
          <a:noFill/>
          <a:ln/>
        </p:spPr>
        <p:txBody>
          <a:bodyPr wrap="square" lIns="0" tIns="0" rIns="0" bIns="0" rtlCol="0" anchor="ctr"/>
          <a:lstStyle/>
          <a:p>
            <a:pPr marL="0" indent="0" algn="l">
              <a:buNone/>
            </a:pPr>
            <a:r>
              <a:rPr lang="en-US" sz="1300" kern="0" spc="150" dirty="0">
                <a:solidFill>
                  <a:srgbClr val="9A9893"/>
                </a:solidFill>
                <a:latin typeface="Calibri" pitchFamily="34" charset="0"/>
                <a:ea typeface="Calibri" pitchFamily="34" charset="-122"/>
                <a:cs typeface="Calibri" pitchFamily="34" charset="-120"/>
              </a:rPr>
              <a:t>CS321M SHOWCASE · CODA E160</a:t>
            </a:r>
            <a:endParaRPr lang="en-US" sz="1300" dirty="0"/>
          </a:p>
        </p:txBody>
      </p:sp>
      <p:pic>
        <p:nvPicPr>
          <p:cNvPr id="1026" name="Picture 2" descr="Block S with Tree - Identity Guide">
            <a:extLst>
              <a:ext uri="{FF2B5EF4-FFF2-40B4-BE49-F238E27FC236}">
                <a16:creationId xmlns:a16="http://schemas.microsoft.com/office/drawing/2014/main" id="{84E9D308-D70C-9E2B-992E-5BAF768056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60872" y="137663"/>
            <a:ext cx="1253139" cy="12531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4F4"/>
          </a:solidFill>
          <a:ln w="12700">
            <a:solidFill>
              <a:srgbClr val="FFFFFF">
                <a:alpha val="0"/>
              </a:srgbClr>
            </a:solidFill>
            <a:prstDash val="solid"/>
          </a:ln>
        </p:spPr>
        <p:txBody>
          <a:bodyPr/>
          <a:lstStyle/>
          <a:p>
            <a:endParaRPr/>
          </a:p>
        </p:txBody>
      </p:sp>
      <p:pic>
        <p:nvPicPr>
          <p:cNvPr id="3" name="Image 0" descr="gen-dedup-b88fe25b682e026cc55145c419e90482.png"/>
          <p:cNvPicPr>
            <a:picLocks noChangeAspect="1"/>
          </p:cNvPicPr>
          <p:nvPr/>
        </p:nvPicPr>
        <p:blipFill>
          <a:blip r:embed="rId3"/>
          <a:srcRect l="-404" r="-404"/>
          <a:stretch/>
        </p:blipFill>
        <p:spPr>
          <a:xfrm>
            <a:off x="1143000" y="2971800"/>
            <a:ext cx="1143000" cy="28346"/>
          </a:xfrm>
          <a:prstGeom prst="rect">
            <a:avLst/>
          </a:prstGeom>
        </p:spPr>
      </p:pic>
      <p:pic>
        <p:nvPicPr>
          <p:cNvPr id="4" name="Image 1" descr="gen-dedup-97fc3475e1a0eae351b2ad062fdc4b7f.png"/>
          <p:cNvPicPr>
            <a:picLocks noChangeAspect="1"/>
          </p:cNvPicPr>
          <p:nvPr/>
        </p:nvPicPr>
        <p:blipFill>
          <a:blip r:embed="rId4"/>
          <a:srcRect t="-400" b="-400"/>
          <a:stretch/>
        </p:blipFill>
        <p:spPr>
          <a:xfrm>
            <a:off x="1143000" y="3733495"/>
            <a:ext cx="16002000" cy="19202"/>
          </a:xfrm>
          <a:prstGeom prst="rect">
            <a:avLst/>
          </a:prstGeom>
        </p:spPr>
      </p:pic>
      <p:pic>
        <p:nvPicPr>
          <p:cNvPr id="5" name="Image 2" descr="gen-dedup-59e76e8fdea11767f086f92241ce5ea7.png"/>
          <p:cNvPicPr>
            <a:picLocks noChangeAspect="1"/>
          </p:cNvPicPr>
          <p:nvPr/>
        </p:nvPicPr>
        <p:blipFill>
          <a:blip r:embed="rId5"/>
          <a:srcRect l="-2083" r="-2083"/>
          <a:stretch/>
        </p:blipFill>
        <p:spPr>
          <a:xfrm>
            <a:off x="1143000" y="4381805"/>
            <a:ext cx="16002000" cy="9144"/>
          </a:xfrm>
          <a:prstGeom prst="rect">
            <a:avLst/>
          </a:prstGeom>
        </p:spPr>
      </p:pic>
      <p:pic>
        <p:nvPicPr>
          <p:cNvPr id="6" name="Image 3" descr="gen-dedup-1264310917913b4735077646bdc0c241.png"/>
          <p:cNvPicPr>
            <a:picLocks noChangeAspect="1"/>
          </p:cNvPicPr>
          <p:nvPr/>
        </p:nvPicPr>
        <p:blipFill>
          <a:blip r:embed="rId6"/>
          <a:srcRect l="-2083" r="-2083"/>
          <a:stretch/>
        </p:blipFill>
        <p:spPr>
          <a:xfrm>
            <a:off x="1143000" y="5715000"/>
            <a:ext cx="16002000" cy="9144"/>
          </a:xfrm>
          <a:prstGeom prst="rect">
            <a:avLst/>
          </a:prstGeom>
        </p:spPr>
      </p:pic>
      <p:pic>
        <p:nvPicPr>
          <p:cNvPr id="7" name="Image 4" descr="gen-dedup-1264310917913b4735077646bdc0c241.png"/>
          <p:cNvPicPr>
            <a:picLocks noChangeAspect="1"/>
          </p:cNvPicPr>
          <p:nvPr/>
        </p:nvPicPr>
        <p:blipFill>
          <a:blip r:embed="rId6"/>
          <a:srcRect l="-2083" r="-2083"/>
          <a:stretch/>
        </p:blipFill>
        <p:spPr>
          <a:xfrm>
            <a:off x="1143000" y="7048195"/>
            <a:ext cx="16002000" cy="9144"/>
          </a:xfrm>
          <a:prstGeom prst="rect">
            <a:avLst/>
          </a:prstGeom>
        </p:spPr>
      </p:pic>
      <p:pic>
        <p:nvPicPr>
          <p:cNvPr id="8" name="Image 5" descr="gen-dedup-97fc3475e1a0eae351b2ad062fdc4b7f.png"/>
          <p:cNvPicPr>
            <a:picLocks noChangeAspect="1"/>
          </p:cNvPicPr>
          <p:nvPr/>
        </p:nvPicPr>
        <p:blipFill>
          <a:blip r:embed="rId4"/>
          <a:srcRect t="-400" b="-400"/>
          <a:stretch/>
        </p:blipFill>
        <p:spPr>
          <a:xfrm>
            <a:off x="1143000" y="8382305"/>
            <a:ext cx="16002000" cy="19202"/>
          </a:xfrm>
          <a:prstGeom prst="rect">
            <a:avLst/>
          </a:prstGeom>
        </p:spPr>
      </p:pic>
      <p:sp>
        <p:nvSpPr>
          <p:cNvPr id="9" name="Text 1"/>
          <p:cNvSpPr txBox="1"/>
          <p:nvPr/>
        </p:nvSpPr>
        <p:spPr>
          <a:xfrm>
            <a:off x="16763695" y="609905"/>
            <a:ext cx="914400" cy="219456"/>
          </a:xfrm>
          <a:prstGeom prst="rect">
            <a:avLst/>
          </a:prstGeom>
          <a:noFill/>
          <a:ln/>
        </p:spPr>
        <p:txBody>
          <a:bodyPr wrap="square" lIns="0" tIns="0" rIns="0" bIns="0" rtlCol="0" anchor="ctr"/>
          <a:lstStyle/>
          <a:p>
            <a:pPr marL="0" indent="0" algn="r">
              <a:buNone/>
            </a:pPr>
            <a:r>
              <a:rPr lang="en-US" sz="1300" kern="0" spc="225" dirty="0">
                <a:solidFill>
                  <a:srgbClr val="9A9893"/>
                </a:solidFill>
                <a:latin typeface="Calibri" pitchFamily="34" charset="0"/>
                <a:ea typeface="Calibri" pitchFamily="34" charset="-122"/>
                <a:cs typeface="Calibri" pitchFamily="34" charset="-120"/>
              </a:rPr>
              <a:t>02 / 06</a:t>
            </a:r>
            <a:endParaRPr lang="en-US" sz="1300" dirty="0"/>
          </a:p>
        </p:txBody>
      </p:sp>
      <p:sp>
        <p:nvSpPr>
          <p:cNvPr id="10" name="Text 2"/>
          <p:cNvSpPr txBox="1"/>
          <p:nvPr/>
        </p:nvSpPr>
        <p:spPr>
          <a:xfrm>
            <a:off x="1143000" y="914400"/>
            <a:ext cx="15240305" cy="228600"/>
          </a:xfrm>
          <a:prstGeom prst="rect">
            <a:avLst/>
          </a:prstGeom>
          <a:noFill/>
          <a:ln/>
        </p:spPr>
        <p:txBody>
          <a:bodyPr wrap="square" lIns="0" tIns="0" rIns="0" bIns="0" rtlCol="0" anchor="ctr"/>
          <a:lstStyle/>
          <a:p>
            <a:pPr marL="0" indent="0" algn="l">
              <a:buNone/>
            </a:pPr>
            <a:r>
              <a:rPr lang="en-US" sz="1500" kern="0" spc="375" dirty="0">
                <a:solidFill>
                  <a:srgbClr val="8C1515"/>
                </a:solidFill>
                <a:latin typeface="Calibri" pitchFamily="34" charset="0"/>
                <a:ea typeface="Calibri" pitchFamily="34" charset="-122"/>
                <a:cs typeface="Calibri" pitchFamily="34" charset="-120"/>
              </a:rPr>
              <a:t>The Carving Problem</a:t>
            </a:r>
            <a:endParaRPr lang="en-US" sz="1500" dirty="0"/>
          </a:p>
        </p:txBody>
      </p:sp>
      <p:sp>
        <p:nvSpPr>
          <p:cNvPr id="11" name="Text 3"/>
          <p:cNvSpPr txBox="1"/>
          <p:nvPr/>
        </p:nvSpPr>
        <p:spPr>
          <a:xfrm>
            <a:off x="1143000" y="1410005"/>
            <a:ext cx="16002000" cy="1219810"/>
          </a:xfrm>
          <a:prstGeom prst="rect">
            <a:avLst/>
          </a:prstGeom>
          <a:noFill/>
          <a:ln/>
        </p:spPr>
        <p:txBody>
          <a:bodyPr wrap="square" lIns="0" tIns="0" rIns="0" bIns="0" rtlCol="0" anchor="ctr"/>
          <a:lstStyle/>
          <a:p>
            <a:pPr marL="0" indent="0" algn="l">
              <a:buNone/>
            </a:pPr>
            <a:r>
              <a:rPr lang="en-US" sz="4000" dirty="0">
                <a:solidFill>
                  <a:srgbClr val="2E2D29"/>
                </a:solidFill>
                <a:latin typeface="Georgia" pitchFamily="34" charset="0"/>
                <a:ea typeface="Georgia" pitchFamily="34" charset="-122"/>
                <a:cs typeface="Georgia" pitchFamily="34" charset="-120"/>
              </a:rPr>
              <a:t>Research documents LLM failures, but does not specify</a:t>
            </a:r>
            <a:endParaRPr lang="en-US" sz="4000" dirty="0"/>
          </a:p>
          <a:p>
            <a:pPr marL="0" indent="0" algn="l">
              <a:buNone/>
            </a:pPr>
            <a:r>
              <a:rPr lang="en-US" sz="4000" dirty="0">
                <a:solidFill>
                  <a:srgbClr val="2E2D29"/>
                </a:solidFill>
                <a:latin typeface="Georgia" pitchFamily="34" charset="0"/>
                <a:ea typeface="Georgia" pitchFamily="34" charset="-122"/>
                <a:cs typeface="Georgia" pitchFamily="34" charset="-120"/>
              </a:rPr>
              <a:t>when failures are caused by hallucination.</a:t>
            </a:r>
            <a:endParaRPr lang="en-US" sz="4000" dirty="0"/>
          </a:p>
        </p:txBody>
      </p:sp>
      <p:sp>
        <p:nvSpPr>
          <p:cNvPr id="12" name="Text 4"/>
          <p:cNvSpPr txBox="1"/>
          <p:nvPr/>
        </p:nvSpPr>
        <p:spPr>
          <a:xfrm>
            <a:off x="1143000" y="4000500"/>
            <a:ext cx="3429000" cy="267005"/>
          </a:xfrm>
          <a:prstGeom prst="rect">
            <a:avLst/>
          </a:prstGeom>
          <a:noFill/>
          <a:ln/>
        </p:spPr>
        <p:txBody>
          <a:bodyPr wrap="square" lIns="0" tIns="0" rIns="0" bIns="0" rtlCol="0" anchor="ctr"/>
          <a:lstStyle/>
          <a:p>
            <a:pPr marL="0" indent="0" algn="l">
              <a:buNone/>
            </a:pPr>
            <a:r>
              <a:rPr lang="en-US" sz="1600" kern="0" spc="225" dirty="0">
                <a:solidFill>
                  <a:srgbClr val="6B6A65"/>
                </a:solidFill>
                <a:latin typeface="Calibri" pitchFamily="34" charset="0"/>
                <a:ea typeface="Calibri" pitchFamily="34" charset="-122"/>
                <a:cs typeface="Calibri" pitchFamily="34" charset="-120"/>
              </a:rPr>
              <a:t>Source</a:t>
            </a:r>
            <a:endParaRPr lang="en-US" sz="1600" dirty="0"/>
          </a:p>
        </p:txBody>
      </p:sp>
      <p:sp>
        <p:nvSpPr>
          <p:cNvPr id="13" name="Text 5"/>
          <p:cNvSpPr txBox="1"/>
          <p:nvPr/>
        </p:nvSpPr>
        <p:spPr>
          <a:xfrm>
            <a:off x="4572000" y="4000500"/>
            <a:ext cx="7620610" cy="267005"/>
          </a:xfrm>
          <a:prstGeom prst="rect">
            <a:avLst/>
          </a:prstGeom>
          <a:noFill/>
          <a:ln/>
        </p:spPr>
        <p:txBody>
          <a:bodyPr wrap="square" lIns="0" tIns="0" rIns="0" bIns="0" rtlCol="0" anchor="ctr"/>
          <a:lstStyle/>
          <a:p>
            <a:pPr marL="0" indent="0" algn="l">
              <a:buNone/>
            </a:pPr>
            <a:r>
              <a:rPr lang="en-US" sz="1600" kern="0" spc="225" dirty="0">
                <a:solidFill>
                  <a:srgbClr val="6B6A65"/>
                </a:solidFill>
                <a:latin typeface="Calibri" pitchFamily="34" charset="0"/>
                <a:ea typeface="Calibri" pitchFamily="34" charset="-122"/>
                <a:cs typeface="Calibri" pitchFamily="34" charset="-120"/>
              </a:rPr>
              <a:t>Finding</a:t>
            </a:r>
            <a:endParaRPr lang="en-US" sz="1600" dirty="0"/>
          </a:p>
        </p:txBody>
      </p:sp>
      <p:sp>
        <p:nvSpPr>
          <p:cNvPr id="14" name="Text 6"/>
          <p:cNvSpPr txBox="1"/>
          <p:nvPr/>
        </p:nvSpPr>
        <p:spPr>
          <a:xfrm>
            <a:off x="12191695" y="4000500"/>
            <a:ext cx="4953305" cy="267005"/>
          </a:xfrm>
          <a:prstGeom prst="rect">
            <a:avLst/>
          </a:prstGeom>
          <a:noFill/>
          <a:ln/>
        </p:spPr>
        <p:txBody>
          <a:bodyPr wrap="square" lIns="0" tIns="0" rIns="0" bIns="0" rtlCol="0" anchor="ctr"/>
          <a:lstStyle/>
          <a:p>
            <a:pPr marL="0" indent="0" algn="l">
              <a:buNone/>
            </a:pPr>
            <a:r>
              <a:rPr lang="en-US" sz="1600" kern="0" spc="225" dirty="0">
                <a:solidFill>
                  <a:srgbClr val="6B6A65"/>
                </a:solidFill>
                <a:latin typeface="Calibri" pitchFamily="34" charset="0"/>
                <a:ea typeface="Calibri" pitchFamily="34" charset="-122"/>
                <a:cs typeface="Calibri" pitchFamily="34" charset="-120"/>
              </a:rPr>
              <a:t>What it measures</a:t>
            </a:r>
            <a:endParaRPr lang="en-US" sz="1600" dirty="0"/>
          </a:p>
        </p:txBody>
      </p:sp>
      <p:sp>
        <p:nvSpPr>
          <p:cNvPr id="15" name="Text 7"/>
          <p:cNvSpPr txBox="1"/>
          <p:nvPr/>
        </p:nvSpPr>
        <p:spPr>
          <a:xfrm>
            <a:off x="1143000" y="5213909"/>
            <a:ext cx="3429000" cy="257861"/>
          </a:xfrm>
          <a:prstGeom prst="rect">
            <a:avLst/>
          </a:prstGeom>
          <a:noFill/>
          <a:ln/>
        </p:spPr>
        <p:txBody>
          <a:bodyPr wrap="square" lIns="0" tIns="0" rIns="0" bIns="0" rtlCol="0" anchor="ctr"/>
          <a:lstStyle/>
          <a:p>
            <a:pPr marL="0" indent="0" algn="l">
              <a:buNone/>
            </a:pPr>
            <a:r>
              <a:rPr lang="en-US" sz="1500" dirty="0">
                <a:solidFill>
                  <a:srgbClr val="6B6A65"/>
                </a:solidFill>
                <a:latin typeface="Calibri" pitchFamily="34" charset="0"/>
                <a:ea typeface="Calibri" pitchFamily="34" charset="-122"/>
                <a:cs typeface="Calibri" pitchFamily="34" charset="-120"/>
              </a:rPr>
              <a:t>RoboPAIR (Robey et al., 2024)</a:t>
            </a:r>
            <a:endParaRPr lang="en-US" sz="1500" dirty="0"/>
          </a:p>
        </p:txBody>
      </p:sp>
      <p:sp>
        <p:nvSpPr>
          <p:cNvPr id="16" name="Text 8"/>
          <p:cNvSpPr txBox="1"/>
          <p:nvPr/>
        </p:nvSpPr>
        <p:spPr>
          <a:xfrm>
            <a:off x="4800600" y="4963363"/>
            <a:ext cx="7849210" cy="362102"/>
          </a:xfrm>
          <a:prstGeom prst="rect">
            <a:avLst/>
          </a:prstGeom>
          <a:noFill/>
          <a:ln/>
        </p:spPr>
        <p:txBody>
          <a:bodyPr wrap="square" lIns="0" tIns="0" rIns="0" bIns="0" rtlCol="0" anchor="ctr"/>
          <a:lstStyle/>
          <a:p>
            <a:pPr marL="0" indent="0" algn="l">
              <a:buNone/>
            </a:pPr>
            <a:r>
              <a:rPr lang="en-US" sz="2100" dirty="0">
                <a:solidFill>
                  <a:srgbClr val="2E2D29"/>
                </a:solidFill>
                <a:latin typeface="Calibri" pitchFamily="34" charset="0"/>
                <a:ea typeface="Calibri" pitchFamily="34" charset="-122"/>
                <a:cs typeface="Calibri" pitchFamily="34" charset="-120"/>
              </a:rPr>
              <a:t>~100% attack success on three commercial robot platforms</a:t>
            </a:r>
            <a:endParaRPr lang="en-US" sz="2100" dirty="0"/>
          </a:p>
        </p:txBody>
      </p:sp>
      <p:sp>
        <p:nvSpPr>
          <p:cNvPr id="17" name="Text 9"/>
          <p:cNvSpPr txBox="1"/>
          <p:nvPr/>
        </p:nvSpPr>
        <p:spPr>
          <a:xfrm>
            <a:off x="12191695" y="4963363"/>
            <a:ext cx="5639105" cy="362102"/>
          </a:xfrm>
          <a:prstGeom prst="rect">
            <a:avLst/>
          </a:prstGeom>
          <a:noFill/>
          <a:ln/>
        </p:spPr>
        <p:txBody>
          <a:bodyPr wrap="square" lIns="0" tIns="0" rIns="0" bIns="0" rtlCol="0" anchor="ctr"/>
          <a:lstStyle/>
          <a:p>
            <a:pPr marL="0" indent="0" algn="l">
              <a:buNone/>
            </a:pPr>
            <a:r>
              <a:rPr lang="en-US" sz="2100" dirty="0">
                <a:solidFill>
                  <a:srgbClr val="6B6A65"/>
                </a:solidFill>
                <a:latin typeface="Calibri" pitchFamily="34" charset="0"/>
                <a:ea typeface="Calibri" pitchFamily="34" charset="-122"/>
                <a:cs typeface="Calibri" pitchFamily="34" charset="-120"/>
              </a:rPr>
              <a:t>Adversarial jailbreak under explicit attack</a:t>
            </a:r>
            <a:endParaRPr lang="en-US" sz="2100" dirty="0"/>
          </a:p>
        </p:txBody>
      </p:sp>
      <p:sp>
        <p:nvSpPr>
          <p:cNvPr id="18" name="Text 10"/>
          <p:cNvSpPr txBox="1"/>
          <p:nvPr/>
        </p:nvSpPr>
        <p:spPr>
          <a:xfrm>
            <a:off x="1143000" y="4844491"/>
            <a:ext cx="1326794" cy="295351"/>
          </a:xfrm>
          <a:prstGeom prst="rect">
            <a:avLst/>
          </a:prstGeom>
          <a:noFill/>
          <a:ln/>
        </p:spPr>
        <p:txBody>
          <a:bodyPr wrap="square" lIns="0" tIns="0" rIns="0" bIns="0" rtlCol="0" anchor="ctr"/>
          <a:lstStyle/>
          <a:p>
            <a:pPr marL="0" indent="0" algn="l">
              <a:buNone/>
            </a:pPr>
            <a:endParaRPr lang="en-US" sz="2100" dirty="0"/>
          </a:p>
        </p:txBody>
      </p:sp>
      <p:sp>
        <p:nvSpPr>
          <p:cNvPr id="19" name="Text 11"/>
          <p:cNvSpPr txBox="1"/>
          <p:nvPr/>
        </p:nvSpPr>
        <p:spPr>
          <a:xfrm>
            <a:off x="1143000" y="6547104"/>
            <a:ext cx="3429000" cy="257861"/>
          </a:xfrm>
          <a:prstGeom prst="rect">
            <a:avLst/>
          </a:prstGeom>
          <a:noFill/>
          <a:ln/>
        </p:spPr>
        <p:txBody>
          <a:bodyPr wrap="square" lIns="0" tIns="0" rIns="0" bIns="0" rtlCol="0" anchor="ctr"/>
          <a:lstStyle/>
          <a:p>
            <a:pPr marL="0" indent="0" algn="l">
              <a:buNone/>
            </a:pPr>
            <a:r>
              <a:rPr lang="en-US" sz="1500" dirty="0">
                <a:solidFill>
                  <a:srgbClr val="6B6A65"/>
                </a:solidFill>
                <a:latin typeface="Calibri" pitchFamily="34" charset="0"/>
                <a:ea typeface="Calibri" pitchFamily="34" charset="-122"/>
                <a:cs typeface="Calibri" pitchFamily="34" charset="-120"/>
              </a:rPr>
              <a:t>ARMOR (2025)</a:t>
            </a:r>
            <a:endParaRPr lang="en-US" sz="1500" dirty="0"/>
          </a:p>
        </p:txBody>
      </p:sp>
      <p:sp>
        <p:nvSpPr>
          <p:cNvPr id="20" name="Text 12"/>
          <p:cNvSpPr txBox="1"/>
          <p:nvPr/>
        </p:nvSpPr>
        <p:spPr>
          <a:xfrm>
            <a:off x="4800600" y="6296558"/>
            <a:ext cx="7849210" cy="362102"/>
          </a:xfrm>
          <a:prstGeom prst="rect">
            <a:avLst/>
          </a:prstGeom>
          <a:noFill/>
          <a:ln/>
        </p:spPr>
        <p:txBody>
          <a:bodyPr wrap="square" lIns="0" tIns="0" rIns="0" bIns="0" rtlCol="0" anchor="ctr"/>
          <a:lstStyle/>
          <a:p>
            <a:pPr marL="0" indent="0" algn="l">
              <a:buNone/>
            </a:pPr>
            <a:r>
              <a:rPr lang="en-US" sz="2100" dirty="0">
                <a:solidFill>
                  <a:srgbClr val="2E2D29"/>
                </a:solidFill>
                <a:latin typeface="Calibri" pitchFamily="34" charset="0"/>
                <a:ea typeface="Calibri" pitchFamily="34" charset="-122"/>
                <a:cs typeface="Calibri" pitchFamily="34" charset="-120"/>
              </a:rPr>
              <a:t>21 commercial LLMs fail military-doctrine grounding</a:t>
            </a:r>
            <a:endParaRPr lang="en-US" sz="2100" dirty="0"/>
          </a:p>
        </p:txBody>
      </p:sp>
      <p:sp>
        <p:nvSpPr>
          <p:cNvPr id="21" name="Text 13"/>
          <p:cNvSpPr txBox="1"/>
          <p:nvPr/>
        </p:nvSpPr>
        <p:spPr>
          <a:xfrm>
            <a:off x="12191695" y="6296558"/>
            <a:ext cx="5639105" cy="362102"/>
          </a:xfrm>
          <a:prstGeom prst="rect">
            <a:avLst/>
          </a:prstGeom>
          <a:noFill/>
          <a:ln/>
        </p:spPr>
        <p:txBody>
          <a:bodyPr wrap="square" lIns="0" tIns="0" rIns="0" bIns="0" rtlCol="0" anchor="ctr"/>
          <a:lstStyle/>
          <a:p>
            <a:pPr marL="0" indent="0" algn="l">
              <a:buNone/>
            </a:pPr>
            <a:r>
              <a:rPr lang="en-US" sz="2100" dirty="0">
                <a:solidFill>
                  <a:srgbClr val="6B6A65"/>
                </a:solidFill>
                <a:latin typeface="Calibri" pitchFamily="34" charset="0"/>
                <a:ea typeface="Calibri" pitchFamily="34" charset="-122"/>
                <a:cs typeface="Calibri" pitchFamily="34" charset="-120"/>
              </a:rPr>
              <a:t>Doctrine mismatch under genuine prompts</a:t>
            </a:r>
            <a:endParaRPr lang="en-US" sz="2100" dirty="0"/>
          </a:p>
        </p:txBody>
      </p:sp>
      <p:sp>
        <p:nvSpPr>
          <p:cNvPr id="22" name="Text 14"/>
          <p:cNvSpPr txBox="1"/>
          <p:nvPr/>
        </p:nvSpPr>
        <p:spPr>
          <a:xfrm>
            <a:off x="1143000" y="6177686"/>
            <a:ext cx="981151" cy="295351"/>
          </a:xfrm>
          <a:prstGeom prst="rect">
            <a:avLst/>
          </a:prstGeom>
          <a:noFill/>
          <a:ln/>
        </p:spPr>
        <p:txBody>
          <a:bodyPr wrap="square" lIns="0" tIns="0" rIns="0" bIns="0" rtlCol="0" anchor="ctr"/>
          <a:lstStyle/>
          <a:p>
            <a:pPr marL="0" indent="0" algn="l">
              <a:buNone/>
            </a:pPr>
            <a:endParaRPr lang="en-US" sz="2100" dirty="0"/>
          </a:p>
        </p:txBody>
      </p:sp>
      <p:sp>
        <p:nvSpPr>
          <p:cNvPr id="23" name="Text 15"/>
          <p:cNvSpPr txBox="1"/>
          <p:nvPr/>
        </p:nvSpPr>
        <p:spPr>
          <a:xfrm>
            <a:off x="1143000" y="7881214"/>
            <a:ext cx="3429000" cy="257861"/>
          </a:xfrm>
          <a:prstGeom prst="rect">
            <a:avLst/>
          </a:prstGeom>
          <a:noFill/>
          <a:ln/>
        </p:spPr>
        <p:txBody>
          <a:bodyPr wrap="square" lIns="0" tIns="0" rIns="0" bIns="0" rtlCol="0" anchor="ctr"/>
          <a:lstStyle/>
          <a:p>
            <a:pPr marL="0" indent="0" algn="l">
              <a:buNone/>
            </a:pPr>
            <a:r>
              <a:rPr lang="en-US" sz="1500" dirty="0">
                <a:solidFill>
                  <a:srgbClr val="6B6A65"/>
                </a:solidFill>
                <a:latin typeface="Calibri" pitchFamily="34" charset="0"/>
                <a:ea typeface="Calibri" pitchFamily="34" charset="-122"/>
                <a:cs typeface="Calibri" pitchFamily="34" charset="-120"/>
              </a:rPr>
              <a:t>Anthropic (June 2025)</a:t>
            </a:r>
            <a:endParaRPr lang="en-US" sz="1500" dirty="0"/>
          </a:p>
        </p:txBody>
      </p:sp>
      <p:sp>
        <p:nvSpPr>
          <p:cNvPr id="24" name="Text 16"/>
          <p:cNvSpPr txBox="1"/>
          <p:nvPr/>
        </p:nvSpPr>
        <p:spPr>
          <a:xfrm>
            <a:off x="4800600" y="7630668"/>
            <a:ext cx="7849210" cy="362102"/>
          </a:xfrm>
          <a:prstGeom prst="rect">
            <a:avLst/>
          </a:prstGeom>
          <a:noFill/>
          <a:ln/>
        </p:spPr>
        <p:txBody>
          <a:bodyPr wrap="square" lIns="0" tIns="0" rIns="0" bIns="0" rtlCol="0" anchor="ctr"/>
          <a:lstStyle/>
          <a:p>
            <a:pPr marL="0" indent="0" algn="l">
              <a:buNone/>
            </a:pPr>
            <a:r>
              <a:rPr lang="en-US" sz="2100" dirty="0">
                <a:solidFill>
                  <a:srgbClr val="2E2D29"/>
                </a:solidFill>
                <a:latin typeface="Calibri" pitchFamily="34" charset="0"/>
                <a:ea typeface="Calibri" pitchFamily="34" charset="-122"/>
                <a:cs typeface="Calibri" pitchFamily="34" charset="-120"/>
              </a:rPr>
              <a:t>Claude Opus 4 blackmails in 96% of relevant scenarios</a:t>
            </a:r>
            <a:endParaRPr lang="en-US" sz="2100" dirty="0"/>
          </a:p>
        </p:txBody>
      </p:sp>
      <p:sp>
        <p:nvSpPr>
          <p:cNvPr id="25" name="Text 17"/>
          <p:cNvSpPr txBox="1"/>
          <p:nvPr/>
        </p:nvSpPr>
        <p:spPr>
          <a:xfrm>
            <a:off x="12191695" y="7630668"/>
            <a:ext cx="5639105" cy="362102"/>
          </a:xfrm>
          <a:prstGeom prst="rect">
            <a:avLst/>
          </a:prstGeom>
          <a:noFill/>
          <a:ln/>
        </p:spPr>
        <p:txBody>
          <a:bodyPr wrap="square" lIns="0" tIns="0" rIns="0" bIns="0" rtlCol="0" anchor="ctr"/>
          <a:lstStyle/>
          <a:p>
            <a:pPr marL="0" indent="0" algn="l">
              <a:buNone/>
            </a:pPr>
            <a:r>
              <a:rPr lang="en-US" sz="2100" dirty="0">
                <a:solidFill>
                  <a:srgbClr val="6B6A65"/>
                </a:solidFill>
                <a:latin typeface="Calibri" pitchFamily="34" charset="0"/>
                <a:ea typeface="Calibri" pitchFamily="34" charset="-122"/>
                <a:cs typeface="Calibri" pitchFamily="34" charset="-120"/>
              </a:rPr>
              <a:t>Goal protection under shutdown threat</a:t>
            </a:r>
            <a:endParaRPr lang="en-US" sz="2100" dirty="0"/>
          </a:p>
        </p:txBody>
      </p:sp>
      <p:sp>
        <p:nvSpPr>
          <p:cNvPr id="26" name="Text 18"/>
          <p:cNvSpPr txBox="1"/>
          <p:nvPr/>
        </p:nvSpPr>
        <p:spPr>
          <a:xfrm>
            <a:off x="1143000" y="7511796"/>
            <a:ext cx="1292962" cy="295351"/>
          </a:xfrm>
          <a:prstGeom prst="rect">
            <a:avLst/>
          </a:prstGeom>
          <a:noFill/>
          <a:ln/>
        </p:spPr>
        <p:txBody>
          <a:bodyPr wrap="square" lIns="0" tIns="0" rIns="0" bIns="0" rtlCol="0" anchor="ctr"/>
          <a:lstStyle/>
          <a:p>
            <a:pPr marL="0" indent="0" algn="l">
              <a:buNone/>
            </a:pPr>
            <a:endParaRPr lang="en-US" sz="2100" dirty="0"/>
          </a:p>
        </p:txBody>
      </p:sp>
      <p:sp>
        <p:nvSpPr>
          <p:cNvPr id="27" name="Text 19"/>
          <p:cNvSpPr txBox="1"/>
          <p:nvPr/>
        </p:nvSpPr>
        <p:spPr>
          <a:xfrm>
            <a:off x="1143000" y="8858707"/>
            <a:ext cx="16002000" cy="771754"/>
          </a:xfrm>
          <a:prstGeom prst="rect">
            <a:avLst/>
          </a:prstGeom>
          <a:noFill/>
          <a:ln/>
        </p:spPr>
        <p:txBody>
          <a:bodyPr wrap="square" lIns="0" tIns="0" rIns="0" bIns="0" rtlCol="0" anchor="ctr"/>
          <a:lstStyle/>
          <a:p>
            <a:pPr marL="0" indent="0" algn="l">
              <a:buNone/>
            </a:pPr>
            <a:r>
              <a:rPr lang="en-US" sz="2200" i="1" dirty="0">
                <a:solidFill>
                  <a:srgbClr val="8C1515"/>
                </a:solidFill>
                <a:latin typeface="Georgia" pitchFamily="34" charset="0"/>
                <a:ea typeface="Georgia" pitchFamily="34" charset="-122"/>
                <a:cs typeface="Georgia" pitchFamily="34" charset="-120"/>
              </a:rPr>
              <a:t>Three different mechanisms, but no benchmark isolates the one a deployment decision actually needs:</a:t>
            </a:r>
            <a:endParaRPr lang="en-US" sz="2200" dirty="0"/>
          </a:p>
          <a:p>
            <a:pPr marL="0" indent="0" algn="l">
              <a:buNone/>
            </a:pPr>
            <a:r>
              <a:rPr lang="en-US" sz="2200" i="1" dirty="0">
                <a:solidFill>
                  <a:srgbClr val="8C1515"/>
                </a:solidFill>
                <a:latin typeface="Georgia" pitchFamily="34" charset="0"/>
                <a:ea typeface="Georgia" pitchFamily="34" charset="-122"/>
                <a:cs typeface="Georgia" pitchFamily="34" charset="-120"/>
              </a:rPr>
              <a:t>the rate at which an agent hallucinates and then crosses a rule it could otherwise restate.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4F4"/>
          </a:solidFill>
          <a:ln w="12700">
            <a:solidFill>
              <a:srgbClr val="FFFFFF">
                <a:alpha val="0"/>
              </a:srgbClr>
            </a:solidFill>
            <a:prstDash val="solid"/>
          </a:ln>
        </p:spPr>
        <p:txBody>
          <a:bodyPr/>
          <a:lstStyle/>
          <a:p>
            <a:endParaRPr/>
          </a:p>
        </p:txBody>
      </p:sp>
      <p:pic>
        <p:nvPicPr>
          <p:cNvPr id="3" name="Image 0" descr="gen-dedup-b88fe25b682e026cc55145c419e90482.png"/>
          <p:cNvPicPr>
            <a:picLocks noChangeAspect="1"/>
          </p:cNvPicPr>
          <p:nvPr/>
        </p:nvPicPr>
        <p:blipFill>
          <a:blip r:embed="rId3"/>
          <a:srcRect l="-404" r="-404"/>
          <a:stretch/>
        </p:blipFill>
        <p:spPr>
          <a:xfrm>
            <a:off x="1143000" y="2286000"/>
            <a:ext cx="1143000" cy="28346"/>
          </a:xfrm>
          <a:prstGeom prst="rect">
            <a:avLst/>
          </a:prstGeom>
        </p:spPr>
      </p:pic>
      <p:pic>
        <p:nvPicPr>
          <p:cNvPr id="4" name="Image 1" descr="gen-dedup-efaad487b69dc788c590e5b1c934e6bd.png"/>
          <p:cNvPicPr>
            <a:picLocks noChangeAspect="1"/>
          </p:cNvPicPr>
          <p:nvPr/>
        </p:nvPicPr>
        <p:blipFill>
          <a:blip r:embed="rId4"/>
          <a:srcRect l="-2083" r="-2083"/>
          <a:stretch/>
        </p:blipFill>
        <p:spPr>
          <a:xfrm>
            <a:off x="1143000" y="8762695"/>
            <a:ext cx="10058400" cy="9144"/>
          </a:xfrm>
          <a:prstGeom prst="rect">
            <a:avLst/>
          </a:prstGeom>
        </p:spPr>
      </p:pic>
      <p:pic>
        <p:nvPicPr>
          <p:cNvPr id="5" name="Image 2" descr="gen-dedup-461fea6696974a0058235250ed23cd5b.png"/>
          <p:cNvPicPr>
            <a:picLocks noChangeAspect="1"/>
          </p:cNvPicPr>
          <p:nvPr/>
        </p:nvPicPr>
        <p:blipFill>
          <a:blip r:embed="rId5"/>
          <a:srcRect t="-2083" b="-2083"/>
          <a:stretch/>
        </p:blipFill>
        <p:spPr>
          <a:xfrm>
            <a:off x="11582705" y="2971800"/>
            <a:ext cx="9144" cy="5715000"/>
          </a:xfrm>
          <a:prstGeom prst="rect">
            <a:avLst/>
          </a:prstGeom>
        </p:spPr>
      </p:pic>
      <p:sp>
        <p:nvSpPr>
          <p:cNvPr id="6" name="Text 1"/>
          <p:cNvSpPr txBox="1"/>
          <p:nvPr/>
        </p:nvSpPr>
        <p:spPr>
          <a:xfrm>
            <a:off x="16763695" y="609905"/>
            <a:ext cx="914400" cy="219456"/>
          </a:xfrm>
          <a:prstGeom prst="rect">
            <a:avLst/>
          </a:prstGeom>
          <a:noFill/>
          <a:ln/>
        </p:spPr>
        <p:txBody>
          <a:bodyPr wrap="square" lIns="0" tIns="0" rIns="0" bIns="0" rtlCol="0" anchor="ctr"/>
          <a:lstStyle/>
          <a:p>
            <a:pPr marL="0" indent="0" algn="r">
              <a:buNone/>
            </a:pPr>
            <a:r>
              <a:rPr lang="en-US" sz="1300" kern="0" spc="225" dirty="0">
                <a:solidFill>
                  <a:srgbClr val="9A9893"/>
                </a:solidFill>
                <a:latin typeface="Calibri" pitchFamily="34" charset="0"/>
                <a:ea typeface="Calibri" pitchFamily="34" charset="-122"/>
                <a:cs typeface="Calibri" pitchFamily="34" charset="-120"/>
              </a:rPr>
              <a:t>03 / 06</a:t>
            </a:r>
            <a:endParaRPr lang="en-US" sz="1300" dirty="0"/>
          </a:p>
        </p:txBody>
      </p:sp>
      <p:sp>
        <p:nvSpPr>
          <p:cNvPr id="7" name="Text 2"/>
          <p:cNvSpPr txBox="1"/>
          <p:nvPr/>
        </p:nvSpPr>
        <p:spPr>
          <a:xfrm>
            <a:off x="1143000" y="914400"/>
            <a:ext cx="15240305" cy="228600"/>
          </a:xfrm>
          <a:prstGeom prst="rect">
            <a:avLst/>
          </a:prstGeom>
          <a:noFill/>
          <a:ln/>
        </p:spPr>
        <p:txBody>
          <a:bodyPr wrap="square" lIns="0" tIns="0" rIns="0" bIns="0" rtlCol="0" anchor="ctr"/>
          <a:lstStyle/>
          <a:p>
            <a:pPr marL="0" indent="0" algn="l">
              <a:buNone/>
            </a:pPr>
            <a:r>
              <a:rPr lang="en-US" sz="1500" kern="0" spc="375" dirty="0">
                <a:solidFill>
                  <a:srgbClr val="8C1515"/>
                </a:solidFill>
                <a:latin typeface="Calibri" pitchFamily="34" charset="0"/>
                <a:ea typeface="Calibri" pitchFamily="34" charset="-122"/>
                <a:cs typeface="Calibri" pitchFamily="34" charset="-120"/>
              </a:rPr>
              <a:t>The Construct</a:t>
            </a:r>
            <a:endParaRPr lang="en-US" sz="1500" dirty="0"/>
          </a:p>
        </p:txBody>
      </p:sp>
      <p:sp>
        <p:nvSpPr>
          <p:cNvPr id="8" name="Text 3"/>
          <p:cNvSpPr txBox="1"/>
          <p:nvPr/>
        </p:nvSpPr>
        <p:spPr>
          <a:xfrm>
            <a:off x="1143000" y="1410005"/>
            <a:ext cx="16002000" cy="609905"/>
          </a:xfrm>
          <a:prstGeom prst="rect">
            <a:avLst/>
          </a:prstGeom>
          <a:noFill/>
          <a:ln/>
        </p:spPr>
        <p:txBody>
          <a:bodyPr wrap="square" lIns="0" tIns="0" rIns="0" bIns="0" rtlCol="0" anchor="ctr"/>
          <a:lstStyle/>
          <a:p>
            <a:pPr marL="0" indent="0" algn="l">
              <a:buNone/>
            </a:pPr>
            <a:r>
              <a:rPr lang="en-US" sz="4000" dirty="0">
                <a:solidFill>
                  <a:srgbClr val="2E2D29"/>
                </a:solidFill>
                <a:latin typeface="Georgia" pitchFamily="34" charset="0"/>
                <a:ea typeface="Georgia" pitchFamily="34" charset="-122"/>
                <a:cs typeface="Georgia" pitchFamily="34" charset="-120"/>
              </a:rPr>
              <a:t> Hallucination-Induced Unauthorized Action </a:t>
            </a:r>
            <a:r>
              <a:rPr lang="en-US" sz="4000" dirty="0">
                <a:solidFill>
                  <a:srgbClr val="8C1515"/>
                </a:solidFill>
                <a:latin typeface="Georgia" pitchFamily="34" charset="0"/>
                <a:ea typeface="Georgia" pitchFamily="34" charset="-122"/>
                <a:cs typeface="Georgia" pitchFamily="34" charset="-120"/>
              </a:rPr>
              <a:t>(HIUA)</a:t>
            </a:r>
            <a:endParaRPr lang="en-US" sz="4000" dirty="0"/>
          </a:p>
        </p:txBody>
      </p:sp>
      <p:sp>
        <p:nvSpPr>
          <p:cNvPr id="9" name="Text 4"/>
          <p:cNvSpPr txBox="1"/>
          <p:nvPr/>
        </p:nvSpPr>
        <p:spPr>
          <a:xfrm>
            <a:off x="1143000" y="2971800"/>
            <a:ext cx="10058400" cy="267005"/>
          </a:xfrm>
          <a:prstGeom prst="rect">
            <a:avLst/>
          </a:prstGeom>
          <a:noFill/>
          <a:ln/>
        </p:spPr>
        <p:txBody>
          <a:bodyPr wrap="square" lIns="0" tIns="0" rIns="0" bIns="0" rtlCol="0" anchor="ctr"/>
          <a:lstStyle/>
          <a:p>
            <a:pPr marL="0" indent="0" algn="l">
              <a:buNone/>
            </a:pPr>
            <a:r>
              <a:rPr lang="en-US" sz="1600" kern="0" spc="300" dirty="0">
                <a:solidFill>
                  <a:srgbClr val="6B6A65"/>
                </a:solidFill>
                <a:latin typeface="Calibri" pitchFamily="34" charset="0"/>
                <a:ea typeface="Calibri" pitchFamily="34" charset="-122"/>
                <a:cs typeface="Calibri" pitchFamily="34" charset="-120"/>
              </a:rPr>
              <a:t>Formal Definition</a:t>
            </a:r>
            <a:endParaRPr lang="en-US" sz="1600" dirty="0"/>
          </a:p>
        </p:txBody>
      </p:sp>
      <p:sp>
        <p:nvSpPr>
          <p:cNvPr id="10" name="Text 5"/>
          <p:cNvSpPr txBox="1"/>
          <p:nvPr/>
        </p:nvSpPr>
        <p:spPr>
          <a:xfrm>
            <a:off x="1143000" y="3524098"/>
            <a:ext cx="10058400" cy="1143000"/>
          </a:xfrm>
          <a:prstGeom prst="rect">
            <a:avLst/>
          </a:prstGeom>
          <a:noFill/>
          <a:ln/>
        </p:spPr>
        <p:txBody>
          <a:bodyPr wrap="square" lIns="0" tIns="0" rIns="0" bIns="0" rtlCol="0" anchor="ctr"/>
          <a:lstStyle/>
          <a:p>
            <a:pPr marL="0" indent="0" algn="l">
              <a:buNone/>
            </a:pPr>
            <a:r>
              <a:rPr lang="en-US" sz="3000" dirty="0">
                <a:solidFill>
                  <a:srgbClr val="2E2D29"/>
                </a:solidFill>
                <a:latin typeface="Georgia" pitchFamily="34" charset="0"/>
                <a:ea typeface="Georgia" pitchFamily="34" charset="-122"/>
                <a:cs typeface="Georgia" pitchFamily="34" charset="-120"/>
              </a:rPr>
              <a:t> HIUA(</a:t>
            </a:r>
            <a:r>
              <a:rPr lang="en-US" sz="3000" i="1" dirty="0">
                <a:solidFill>
                  <a:srgbClr val="2E2D29"/>
                </a:solidFill>
                <a:latin typeface="Georgia" pitchFamily="34" charset="0"/>
                <a:ea typeface="Georgia" pitchFamily="34" charset="-122"/>
                <a:cs typeface="Georgia" pitchFamily="34" charset="-120"/>
              </a:rPr>
              <a:t>M</a:t>
            </a:r>
            <a:r>
              <a:rPr lang="en-US" sz="3000" dirty="0">
                <a:solidFill>
                  <a:srgbClr val="2E2D29"/>
                </a:solidFill>
                <a:latin typeface="Georgia" pitchFamily="34" charset="0"/>
                <a:ea typeface="Georgia" pitchFamily="34" charset="-122"/>
                <a:cs typeface="Georgia" pitchFamily="34" charset="-120"/>
              </a:rPr>
              <a:t>, </a:t>
            </a:r>
            <a:r>
              <a:rPr lang="en-US" sz="3000" i="1" dirty="0">
                <a:solidFill>
                  <a:srgbClr val="2E2D29"/>
                </a:solidFill>
                <a:latin typeface="Georgia" pitchFamily="34" charset="0"/>
                <a:ea typeface="Georgia" pitchFamily="34" charset="-122"/>
                <a:cs typeface="Georgia" pitchFamily="34" charset="-120"/>
              </a:rPr>
              <a:t>D</a:t>
            </a:r>
            <a:r>
              <a:rPr lang="en-US" sz="3000" dirty="0">
                <a:solidFill>
                  <a:srgbClr val="2E2D29"/>
                </a:solidFill>
                <a:latin typeface="Georgia" pitchFamily="34" charset="0"/>
                <a:ea typeface="Georgia" pitchFamily="34" charset="-122"/>
                <a:cs typeface="Georgia" pitchFamily="34" charset="-120"/>
              </a:rPr>
              <a:t>) = </a:t>
            </a:r>
            <a:r>
              <a:rPr lang="en-US" sz="3000" b="1" dirty="0">
                <a:solidFill>
                  <a:srgbClr val="8C1515"/>
                </a:solidFill>
                <a:latin typeface="Georgia" pitchFamily="34" charset="0"/>
                <a:ea typeface="Georgia" pitchFamily="34" charset="-122"/>
                <a:cs typeface="Georgia" pitchFamily="34" charset="-120"/>
              </a:rPr>
              <a:t>P</a:t>
            </a:r>
            <a:r>
              <a:rPr lang="en-US" sz="3000" dirty="0">
                <a:solidFill>
                  <a:srgbClr val="2E2D29"/>
                </a:solidFill>
                <a:latin typeface="Georgia" pitchFamily="34" charset="0"/>
                <a:ea typeface="Georgia" pitchFamily="34" charset="-122"/>
                <a:cs typeface="Georgia" pitchFamily="34" charset="-120"/>
              </a:rPr>
              <a:t>( forbidden action </a:t>
            </a:r>
            <a:r>
              <a:rPr lang="en-US" sz="3000" b="1" dirty="0">
                <a:solidFill>
                  <a:srgbClr val="8C1515"/>
                </a:solidFill>
                <a:latin typeface="Georgia" pitchFamily="34" charset="0"/>
                <a:ea typeface="Georgia" pitchFamily="34" charset="-122"/>
                <a:cs typeface="Georgia" pitchFamily="34" charset="-120"/>
              </a:rPr>
              <a:t> | </a:t>
            </a:r>
            <a:r>
              <a:rPr lang="en-US" sz="3000" dirty="0">
                <a:solidFill>
                  <a:srgbClr val="2E2D29"/>
                </a:solidFill>
                <a:latin typeface="Georgia" pitchFamily="34" charset="0"/>
                <a:ea typeface="Georgia" pitchFamily="34" charset="-122"/>
                <a:cs typeface="Georgia" pitchFamily="34" charset="-120"/>
              </a:rPr>
              <a:t> hallucination </a:t>
            </a:r>
            <a:r>
              <a:rPr lang="en-US" sz="3000" b="1" dirty="0">
                <a:solidFill>
                  <a:srgbClr val="8C1515"/>
                </a:solidFill>
                <a:latin typeface="Georgia" pitchFamily="34" charset="0"/>
                <a:ea typeface="Georgia" pitchFamily="34" charset="-122"/>
                <a:cs typeface="Georgia" pitchFamily="34" charset="-120"/>
              </a:rPr>
              <a:t> ∧ </a:t>
            </a:r>
            <a:r>
              <a:rPr lang="en-US" sz="3000" dirty="0">
                <a:solidFill>
                  <a:srgbClr val="2E2D29"/>
                </a:solidFill>
                <a:latin typeface="Georgia" pitchFamily="34" charset="0"/>
                <a:ea typeface="Georgia" pitchFamily="34" charset="-122"/>
                <a:cs typeface="Georgia" pitchFamily="34" charset="-120"/>
              </a:rPr>
              <a:t> salient prohibition ) </a:t>
            </a:r>
            <a:endParaRPr lang="en-US" sz="3000" dirty="0"/>
          </a:p>
        </p:txBody>
      </p:sp>
      <p:sp>
        <p:nvSpPr>
          <p:cNvPr id="11" name="Text 6"/>
          <p:cNvSpPr txBox="1"/>
          <p:nvPr/>
        </p:nvSpPr>
        <p:spPr>
          <a:xfrm>
            <a:off x="1143000" y="5048402"/>
            <a:ext cx="10058400" cy="724205"/>
          </a:xfrm>
          <a:prstGeom prst="rect">
            <a:avLst/>
          </a:prstGeom>
          <a:noFill/>
          <a:ln/>
        </p:spPr>
        <p:txBody>
          <a:bodyPr wrap="square" lIns="0" tIns="0" rIns="0" bIns="0" rtlCol="0" anchor="ctr"/>
          <a:lstStyle/>
          <a:p>
            <a:pPr marL="0" indent="0" algn="l">
              <a:buNone/>
            </a:pPr>
            <a:r>
              <a:rPr lang="en-US" sz="1900" i="1" dirty="0">
                <a:solidFill>
                  <a:srgbClr val="2E2D29"/>
                </a:solidFill>
                <a:latin typeface="Georgia" pitchFamily="34" charset="0"/>
                <a:ea typeface="Georgia" pitchFamily="34" charset="-122"/>
                <a:cs typeface="Georgia" pitchFamily="34" charset="-120"/>
              </a:rPr>
              <a:t>The rate at which an agent, having hallucinated, then crosses an explicit prohibition it could otherwise restate verbatim.</a:t>
            </a:r>
            <a:endParaRPr lang="en-US" sz="1900" dirty="0"/>
          </a:p>
        </p:txBody>
      </p:sp>
      <p:sp>
        <p:nvSpPr>
          <p:cNvPr id="12" name="Text 7"/>
          <p:cNvSpPr txBox="1"/>
          <p:nvPr/>
        </p:nvSpPr>
        <p:spPr>
          <a:xfrm>
            <a:off x="1143000" y="8953805"/>
            <a:ext cx="10744200" cy="295351"/>
          </a:xfrm>
          <a:prstGeom prst="rect">
            <a:avLst/>
          </a:prstGeom>
          <a:noFill/>
          <a:ln/>
        </p:spPr>
        <p:txBody>
          <a:bodyPr wrap="square" lIns="0" tIns="0" rIns="0" bIns="0" rtlCol="0" anchor="ctr"/>
          <a:lstStyle/>
          <a:p>
            <a:pPr marL="0" indent="0" algn="l">
              <a:buNone/>
            </a:pPr>
            <a:r>
              <a:rPr lang="en-US" sz="1600" i="1" dirty="0">
                <a:solidFill>
                  <a:srgbClr val="6B6A65"/>
                </a:solidFill>
                <a:latin typeface="Georgia" pitchFamily="34" charset="0"/>
                <a:ea typeface="Georgia" pitchFamily="34" charset="-122"/>
                <a:cs typeface="Georgia" pitchFamily="34" charset="-120"/>
              </a:rPr>
              <a:t>A measurement that cannot partition these four neighbors from HIUA is measuring a confounded construct.</a:t>
            </a:r>
            <a:endParaRPr lang="en-US" sz="1600" dirty="0"/>
          </a:p>
        </p:txBody>
      </p:sp>
      <p:sp>
        <p:nvSpPr>
          <p:cNvPr id="13" name="Text 8"/>
          <p:cNvSpPr txBox="1"/>
          <p:nvPr/>
        </p:nvSpPr>
        <p:spPr>
          <a:xfrm>
            <a:off x="12039905" y="2971800"/>
            <a:ext cx="5334610" cy="267005"/>
          </a:xfrm>
          <a:prstGeom prst="rect">
            <a:avLst/>
          </a:prstGeom>
          <a:noFill/>
          <a:ln/>
        </p:spPr>
        <p:txBody>
          <a:bodyPr wrap="square" lIns="0" tIns="0" rIns="0" bIns="0" rtlCol="0" anchor="ctr"/>
          <a:lstStyle/>
          <a:p>
            <a:pPr marL="0" indent="0" algn="l">
              <a:buNone/>
            </a:pPr>
            <a:r>
              <a:rPr lang="en-US" sz="1600" kern="0" spc="300" dirty="0">
                <a:solidFill>
                  <a:srgbClr val="6B6A65"/>
                </a:solidFill>
                <a:latin typeface="Calibri" pitchFamily="34" charset="0"/>
                <a:ea typeface="Calibri" pitchFamily="34" charset="-122"/>
                <a:cs typeface="Calibri" pitchFamily="34" charset="-120"/>
              </a:rPr>
              <a:t>What HIUA Is Not</a:t>
            </a:r>
            <a:endParaRPr lang="en-US" sz="1600" dirty="0"/>
          </a:p>
        </p:txBody>
      </p:sp>
      <p:sp>
        <p:nvSpPr>
          <p:cNvPr id="14" name="Text 9"/>
          <p:cNvSpPr txBox="1"/>
          <p:nvPr/>
        </p:nvSpPr>
        <p:spPr>
          <a:xfrm>
            <a:off x="12039905" y="3524098"/>
            <a:ext cx="5334610" cy="362102"/>
          </a:xfrm>
          <a:prstGeom prst="rect">
            <a:avLst/>
          </a:prstGeom>
          <a:noFill/>
          <a:ln/>
        </p:spPr>
        <p:txBody>
          <a:bodyPr wrap="square" lIns="0" tIns="0" rIns="0" bIns="0" rtlCol="0" anchor="ctr"/>
          <a:lstStyle/>
          <a:p>
            <a:pPr marL="0" indent="0" algn="l">
              <a:buNone/>
            </a:pPr>
            <a:r>
              <a:rPr lang="en-US" sz="1900" dirty="0">
                <a:solidFill>
                  <a:srgbClr val="8C1515"/>
                </a:solidFill>
                <a:latin typeface="Georgia" pitchFamily="34" charset="0"/>
                <a:ea typeface="Georgia" pitchFamily="34" charset="-122"/>
                <a:cs typeface="Georgia" pitchFamily="34" charset="-120"/>
              </a:rPr>
              <a:t>Lucid violation </a:t>
            </a:r>
            <a:r>
              <a:rPr lang="en-US" sz="1500" dirty="0">
                <a:solidFill>
                  <a:srgbClr val="6B6A65"/>
                </a:solidFill>
                <a:latin typeface="Georgia" pitchFamily="34" charset="0"/>
                <a:ea typeface="Georgia" pitchFamily="34" charset="-122"/>
                <a:cs typeface="Georgia" pitchFamily="34" charset="-120"/>
              </a:rPr>
              <a:t>(KBV)</a:t>
            </a:r>
            <a:endParaRPr lang="en-US" sz="1900" dirty="0"/>
          </a:p>
        </p:txBody>
      </p:sp>
      <p:sp>
        <p:nvSpPr>
          <p:cNvPr id="15" name="Text 10"/>
          <p:cNvSpPr txBox="1"/>
          <p:nvPr/>
        </p:nvSpPr>
        <p:spPr>
          <a:xfrm>
            <a:off x="12039905" y="3940150"/>
            <a:ext cx="5334610" cy="609905"/>
          </a:xfrm>
          <a:prstGeom prst="rect">
            <a:avLst/>
          </a:prstGeom>
          <a:noFill/>
          <a:ln/>
        </p:spPr>
        <p:txBody>
          <a:bodyPr wrap="square" lIns="0" tIns="0" rIns="0" bIns="0" rtlCol="0" anchor="ctr"/>
          <a:lstStyle/>
          <a:p>
            <a:pPr marL="0" indent="0" algn="l">
              <a:buNone/>
            </a:pPr>
            <a:r>
              <a:rPr lang="en-US" sz="1600" dirty="0">
                <a:solidFill>
                  <a:srgbClr val="2E2D29"/>
                </a:solidFill>
                <a:latin typeface="Calibri" pitchFamily="34" charset="0"/>
                <a:ea typeface="Calibri" pitchFamily="34" charset="-122"/>
                <a:cs typeface="Calibri" pitchFamily="34" charset="-120"/>
              </a:rPr>
              <a:t>Knew the rule, broke it anyway. </a:t>
            </a:r>
            <a:r>
              <a:rPr lang="en-US" sz="1600" dirty="0">
                <a:solidFill>
                  <a:srgbClr val="6B6A65"/>
                </a:solidFill>
                <a:latin typeface="Calibri" pitchFamily="34" charset="0"/>
                <a:ea typeface="Calibri" pitchFamily="34" charset="-122"/>
                <a:cs typeface="Calibri" pitchFamily="34" charset="-120"/>
              </a:rPr>
              <a:t>DriftBench: 8–99% across models.</a:t>
            </a:r>
            <a:endParaRPr lang="en-US" sz="1600" dirty="0"/>
          </a:p>
        </p:txBody>
      </p:sp>
      <p:sp>
        <p:nvSpPr>
          <p:cNvPr id="16" name="Text 11"/>
          <p:cNvSpPr txBox="1"/>
          <p:nvPr/>
        </p:nvSpPr>
        <p:spPr>
          <a:xfrm>
            <a:off x="12039905" y="4776826"/>
            <a:ext cx="5334610" cy="362102"/>
          </a:xfrm>
          <a:prstGeom prst="rect">
            <a:avLst/>
          </a:prstGeom>
          <a:noFill/>
          <a:ln/>
        </p:spPr>
        <p:txBody>
          <a:bodyPr wrap="square" lIns="0" tIns="0" rIns="0" bIns="0" rtlCol="0" anchor="ctr"/>
          <a:lstStyle/>
          <a:p>
            <a:pPr marL="0" indent="0" algn="l">
              <a:buNone/>
            </a:pPr>
            <a:r>
              <a:rPr lang="en-US" sz="1900" dirty="0">
                <a:solidFill>
                  <a:srgbClr val="8C1515"/>
                </a:solidFill>
                <a:latin typeface="Georgia" pitchFamily="34" charset="0"/>
                <a:ea typeface="Georgia" pitchFamily="34" charset="-122"/>
                <a:cs typeface="Georgia" pitchFamily="34" charset="-120"/>
              </a:rPr>
              <a:t>Jailbreak compliance</a:t>
            </a:r>
            <a:endParaRPr lang="en-US" sz="1900" dirty="0"/>
          </a:p>
        </p:txBody>
      </p:sp>
      <p:sp>
        <p:nvSpPr>
          <p:cNvPr id="17" name="Text 12"/>
          <p:cNvSpPr txBox="1"/>
          <p:nvPr/>
        </p:nvSpPr>
        <p:spPr>
          <a:xfrm>
            <a:off x="12039905" y="5192878"/>
            <a:ext cx="5334610" cy="609905"/>
          </a:xfrm>
          <a:prstGeom prst="rect">
            <a:avLst/>
          </a:prstGeom>
          <a:noFill/>
          <a:ln/>
        </p:spPr>
        <p:txBody>
          <a:bodyPr wrap="square" lIns="0" tIns="0" rIns="0" bIns="0" rtlCol="0" anchor="ctr"/>
          <a:lstStyle/>
          <a:p>
            <a:pPr marL="0" indent="0" algn="l">
              <a:buNone/>
            </a:pPr>
            <a:r>
              <a:rPr lang="en-US" sz="1600" dirty="0">
                <a:solidFill>
                  <a:srgbClr val="2E2D29"/>
                </a:solidFill>
                <a:latin typeface="Calibri" pitchFamily="34" charset="0"/>
                <a:ea typeface="Calibri" pitchFamily="34" charset="-122"/>
                <a:cs typeface="Calibri" pitchFamily="34" charset="-120"/>
              </a:rPr>
              <a:t>Adversary instructed the harmful action. </a:t>
            </a:r>
            <a:r>
              <a:rPr lang="en-US" sz="1600" dirty="0">
                <a:solidFill>
                  <a:srgbClr val="6B6A65"/>
                </a:solidFill>
                <a:latin typeface="Calibri" pitchFamily="34" charset="0"/>
                <a:ea typeface="Calibri" pitchFamily="34" charset="-122"/>
                <a:cs typeface="Calibri" pitchFamily="34" charset="-120"/>
              </a:rPr>
              <a:t>AgentHarm, RoboPAIR.</a:t>
            </a:r>
            <a:endParaRPr lang="en-US" sz="1600" dirty="0"/>
          </a:p>
        </p:txBody>
      </p:sp>
      <p:sp>
        <p:nvSpPr>
          <p:cNvPr id="18" name="Text 13"/>
          <p:cNvSpPr txBox="1"/>
          <p:nvPr/>
        </p:nvSpPr>
        <p:spPr>
          <a:xfrm>
            <a:off x="12039905" y="6029554"/>
            <a:ext cx="5334610" cy="362102"/>
          </a:xfrm>
          <a:prstGeom prst="rect">
            <a:avLst/>
          </a:prstGeom>
          <a:noFill/>
          <a:ln/>
        </p:spPr>
        <p:txBody>
          <a:bodyPr wrap="square" lIns="0" tIns="0" rIns="0" bIns="0" rtlCol="0" anchor="ctr"/>
          <a:lstStyle/>
          <a:p>
            <a:pPr marL="0" indent="0" algn="l">
              <a:buNone/>
            </a:pPr>
            <a:r>
              <a:rPr lang="en-US" sz="1900" dirty="0">
                <a:solidFill>
                  <a:srgbClr val="8C1515"/>
                </a:solidFill>
                <a:latin typeface="Georgia" pitchFamily="34" charset="0"/>
                <a:ea typeface="Georgia" pitchFamily="34" charset="-122"/>
                <a:cs typeface="Georgia" pitchFamily="34" charset="-120"/>
              </a:rPr>
              <a:t>Over-refusal</a:t>
            </a:r>
            <a:endParaRPr lang="en-US" sz="1900" dirty="0"/>
          </a:p>
        </p:txBody>
      </p:sp>
      <p:sp>
        <p:nvSpPr>
          <p:cNvPr id="19" name="Text 14"/>
          <p:cNvSpPr txBox="1"/>
          <p:nvPr/>
        </p:nvSpPr>
        <p:spPr>
          <a:xfrm>
            <a:off x="12039905" y="6445606"/>
            <a:ext cx="5334610" cy="305410"/>
          </a:xfrm>
          <a:prstGeom prst="rect">
            <a:avLst/>
          </a:prstGeom>
          <a:noFill/>
          <a:ln/>
        </p:spPr>
        <p:txBody>
          <a:bodyPr wrap="square" lIns="0" tIns="0" rIns="0" bIns="0" rtlCol="0" anchor="ctr"/>
          <a:lstStyle/>
          <a:p>
            <a:pPr marL="0" indent="0" algn="l">
              <a:buNone/>
            </a:pPr>
            <a:r>
              <a:rPr lang="en-US" sz="1600" dirty="0">
                <a:solidFill>
                  <a:srgbClr val="2E2D29"/>
                </a:solidFill>
                <a:latin typeface="Calibri" pitchFamily="34" charset="0"/>
                <a:ea typeface="Calibri" pitchFamily="34" charset="-122"/>
                <a:cs typeface="Calibri" pitchFamily="34" charset="-120"/>
              </a:rPr>
              <a:t>Refused a permitted action. </a:t>
            </a:r>
            <a:r>
              <a:rPr lang="en-US" sz="1600" dirty="0">
                <a:solidFill>
                  <a:srgbClr val="6B6A65"/>
                </a:solidFill>
                <a:latin typeface="Calibri" pitchFamily="34" charset="0"/>
                <a:ea typeface="Calibri" pitchFamily="34" charset="-122"/>
                <a:cs typeface="Calibri" pitchFamily="34" charset="-120"/>
              </a:rPr>
              <a:t>OR-Bench.</a:t>
            </a:r>
            <a:endParaRPr lang="en-US" sz="1600" dirty="0"/>
          </a:p>
        </p:txBody>
      </p:sp>
      <p:sp>
        <p:nvSpPr>
          <p:cNvPr id="20" name="Text 15"/>
          <p:cNvSpPr txBox="1"/>
          <p:nvPr/>
        </p:nvSpPr>
        <p:spPr>
          <a:xfrm>
            <a:off x="12039905" y="6978701"/>
            <a:ext cx="5334610" cy="362102"/>
          </a:xfrm>
          <a:prstGeom prst="rect">
            <a:avLst/>
          </a:prstGeom>
          <a:noFill/>
          <a:ln/>
        </p:spPr>
        <p:txBody>
          <a:bodyPr wrap="square" lIns="0" tIns="0" rIns="0" bIns="0" rtlCol="0" anchor="ctr"/>
          <a:lstStyle/>
          <a:p>
            <a:pPr marL="0" indent="0" algn="l">
              <a:buNone/>
            </a:pPr>
            <a:r>
              <a:rPr lang="en-US" sz="1900" dirty="0">
                <a:solidFill>
                  <a:srgbClr val="8C1515"/>
                </a:solidFill>
                <a:latin typeface="Georgia" pitchFamily="34" charset="0"/>
                <a:ea typeface="Georgia" pitchFamily="34" charset="-122"/>
                <a:cs typeface="Georgia" pitchFamily="34" charset="-120"/>
              </a:rPr>
              <a:t>Policy-invisible violation</a:t>
            </a:r>
            <a:endParaRPr lang="en-US" sz="1900" dirty="0"/>
          </a:p>
        </p:txBody>
      </p:sp>
      <p:sp>
        <p:nvSpPr>
          <p:cNvPr id="21" name="Text 16"/>
          <p:cNvSpPr txBox="1"/>
          <p:nvPr/>
        </p:nvSpPr>
        <p:spPr>
          <a:xfrm>
            <a:off x="12039905" y="7394753"/>
            <a:ext cx="6020410" cy="305410"/>
          </a:xfrm>
          <a:prstGeom prst="rect">
            <a:avLst/>
          </a:prstGeom>
          <a:noFill/>
          <a:ln/>
        </p:spPr>
        <p:txBody>
          <a:bodyPr wrap="square" lIns="0" tIns="0" rIns="0" bIns="0" rtlCol="0" anchor="ctr"/>
          <a:lstStyle/>
          <a:p>
            <a:pPr marL="0" indent="0" algn="l">
              <a:buNone/>
            </a:pPr>
            <a:r>
              <a:rPr lang="en-US" sz="1600" dirty="0">
                <a:solidFill>
                  <a:srgbClr val="2E2D29"/>
                </a:solidFill>
                <a:latin typeface="Calibri" pitchFamily="34" charset="0"/>
                <a:ea typeface="Calibri" pitchFamily="34" charset="-122"/>
                <a:cs typeface="Calibri" pitchFamily="34" charset="-120"/>
              </a:rPr>
              <a:t>Policy facts absent from context. </a:t>
            </a:r>
            <a:r>
              <a:rPr lang="en-US" sz="1600" dirty="0">
                <a:solidFill>
                  <a:srgbClr val="6B6A65"/>
                </a:solidFill>
                <a:latin typeface="Calibri" pitchFamily="34" charset="0"/>
                <a:ea typeface="Calibri" pitchFamily="34" charset="-122"/>
                <a:cs typeface="Calibri" pitchFamily="34" charset="-120"/>
              </a:rPr>
              <a:t>PhantomPolicy.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85954"/>
            <a:ext cx="18288000" cy="10287000"/>
          </a:xfrm>
          <a:prstGeom prst="rect">
            <a:avLst/>
          </a:prstGeom>
          <a:solidFill>
            <a:srgbClr val="F4F4F4"/>
          </a:solidFill>
          <a:ln w="12700">
            <a:solidFill>
              <a:srgbClr val="FFFFFF">
                <a:alpha val="0"/>
              </a:srgbClr>
            </a:solidFill>
            <a:prstDash val="solid"/>
          </a:ln>
        </p:spPr>
        <p:txBody>
          <a:bodyPr/>
          <a:lstStyle/>
          <a:p>
            <a:endParaRPr dirty="0"/>
          </a:p>
        </p:txBody>
      </p:sp>
      <p:pic>
        <p:nvPicPr>
          <p:cNvPr id="3" name="Image 0" descr="gen-dedup-b88fe25b682e026cc55145c419e90482.png"/>
          <p:cNvPicPr>
            <a:picLocks noChangeAspect="1"/>
          </p:cNvPicPr>
          <p:nvPr/>
        </p:nvPicPr>
        <p:blipFill>
          <a:blip r:embed="rId3"/>
          <a:srcRect l="-404" r="-404"/>
          <a:stretch/>
        </p:blipFill>
        <p:spPr>
          <a:xfrm>
            <a:off x="1143000" y="2286000"/>
            <a:ext cx="1143000" cy="28346"/>
          </a:xfrm>
          <a:prstGeom prst="rect">
            <a:avLst/>
          </a:prstGeom>
        </p:spPr>
      </p:pic>
      <p:pic>
        <p:nvPicPr>
          <p:cNvPr id="4" name="Image 1" descr="gen-dedup-97fc3475e1a0eae351b2ad062fdc4b7f.png"/>
          <p:cNvPicPr>
            <a:picLocks noChangeAspect="1"/>
          </p:cNvPicPr>
          <p:nvPr/>
        </p:nvPicPr>
        <p:blipFill>
          <a:blip r:embed="rId4"/>
          <a:srcRect t="-400" b="-400"/>
          <a:stretch/>
        </p:blipFill>
        <p:spPr>
          <a:xfrm>
            <a:off x="1143000" y="2819095"/>
            <a:ext cx="16002000" cy="19202"/>
          </a:xfrm>
          <a:prstGeom prst="rect">
            <a:avLst/>
          </a:prstGeom>
        </p:spPr>
      </p:pic>
      <p:pic>
        <p:nvPicPr>
          <p:cNvPr id="5" name="Image 2" descr="gen-dedup-59e76e8fdea11767f086f92241ce5ea7.png"/>
          <p:cNvPicPr>
            <a:picLocks noChangeAspect="1"/>
          </p:cNvPicPr>
          <p:nvPr/>
        </p:nvPicPr>
        <p:blipFill>
          <a:blip r:embed="rId5"/>
          <a:srcRect l="-2083" r="-2083"/>
          <a:stretch/>
        </p:blipFill>
        <p:spPr>
          <a:xfrm>
            <a:off x="1143000" y="3543300"/>
            <a:ext cx="16002000" cy="9144"/>
          </a:xfrm>
          <a:prstGeom prst="rect">
            <a:avLst/>
          </a:prstGeom>
        </p:spPr>
      </p:pic>
      <p:pic>
        <p:nvPicPr>
          <p:cNvPr id="6" name="Image 3" descr="gen-dedup-97fc3475e1a0eae351b2ad062fdc4b7f.png"/>
          <p:cNvPicPr>
            <a:picLocks noChangeAspect="1"/>
          </p:cNvPicPr>
          <p:nvPr/>
        </p:nvPicPr>
        <p:blipFill>
          <a:blip r:embed="rId4"/>
          <a:srcRect t="-400" b="-400"/>
          <a:stretch/>
        </p:blipFill>
        <p:spPr>
          <a:xfrm>
            <a:off x="1143000" y="8857793"/>
            <a:ext cx="16002000" cy="19202"/>
          </a:xfrm>
          <a:prstGeom prst="rect">
            <a:avLst/>
          </a:prstGeom>
        </p:spPr>
      </p:pic>
      <p:sp>
        <p:nvSpPr>
          <p:cNvPr id="7" name="Text 1"/>
          <p:cNvSpPr txBox="1"/>
          <p:nvPr/>
        </p:nvSpPr>
        <p:spPr>
          <a:xfrm>
            <a:off x="16763695" y="609905"/>
            <a:ext cx="914400" cy="219456"/>
          </a:xfrm>
          <a:prstGeom prst="rect">
            <a:avLst/>
          </a:prstGeom>
          <a:noFill/>
          <a:ln/>
        </p:spPr>
        <p:txBody>
          <a:bodyPr wrap="square" lIns="0" tIns="0" rIns="0" bIns="0" rtlCol="0" anchor="ctr"/>
          <a:lstStyle/>
          <a:p>
            <a:pPr marL="0" indent="0" algn="r">
              <a:buNone/>
            </a:pPr>
            <a:r>
              <a:rPr lang="en-US" sz="1300" kern="0" spc="225" dirty="0">
                <a:solidFill>
                  <a:srgbClr val="9A9893"/>
                </a:solidFill>
                <a:latin typeface="Calibri" pitchFamily="34" charset="0"/>
                <a:ea typeface="Calibri" pitchFamily="34" charset="-122"/>
                <a:cs typeface="Calibri" pitchFamily="34" charset="-120"/>
              </a:rPr>
              <a:t>04 / 06</a:t>
            </a:r>
            <a:endParaRPr lang="en-US" sz="1300" dirty="0"/>
          </a:p>
        </p:txBody>
      </p:sp>
      <p:sp>
        <p:nvSpPr>
          <p:cNvPr id="8" name="Text 2"/>
          <p:cNvSpPr txBox="1"/>
          <p:nvPr/>
        </p:nvSpPr>
        <p:spPr>
          <a:xfrm>
            <a:off x="1143000" y="914400"/>
            <a:ext cx="15240305" cy="228600"/>
          </a:xfrm>
          <a:prstGeom prst="rect">
            <a:avLst/>
          </a:prstGeom>
          <a:noFill/>
          <a:ln/>
        </p:spPr>
        <p:txBody>
          <a:bodyPr wrap="square" lIns="0" tIns="0" rIns="0" bIns="0" rtlCol="0" anchor="ctr"/>
          <a:lstStyle/>
          <a:p>
            <a:pPr marL="0" indent="0" algn="l">
              <a:buNone/>
            </a:pPr>
            <a:r>
              <a:rPr lang="en-US" sz="1500" kern="0" spc="375" dirty="0">
                <a:solidFill>
                  <a:srgbClr val="8C1515"/>
                </a:solidFill>
                <a:latin typeface="Calibri" pitchFamily="34" charset="0"/>
                <a:ea typeface="Calibri" pitchFamily="34" charset="-122"/>
                <a:cs typeface="Calibri" pitchFamily="34" charset="-120"/>
              </a:rPr>
              <a:t>The Audit</a:t>
            </a:r>
            <a:endParaRPr lang="en-US" sz="1500" dirty="0"/>
          </a:p>
        </p:txBody>
      </p:sp>
      <p:sp>
        <p:nvSpPr>
          <p:cNvPr id="9" name="Text 3"/>
          <p:cNvSpPr txBox="1"/>
          <p:nvPr/>
        </p:nvSpPr>
        <p:spPr>
          <a:xfrm>
            <a:off x="1143000" y="1410005"/>
            <a:ext cx="18288000" cy="543154"/>
          </a:xfrm>
          <a:prstGeom prst="rect">
            <a:avLst/>
          </a:prstGeom>
          <a:noFill/>
          <a:ln/>
        </p:spPr>
        <p:txBody>
          <a:bodyPr wrap="square" lIns="0" tIns="0" rIns="0" bIns="0" rtlCol="0" anchor="ctr"/>
          <a:lstStyle/>
          <a:p>
            <a:pPr marL="0" indent="0" algn="l">
              <a:buNone/>
            </a:pPr>
            <a:r>
              <a:rPr lang="en-US" sz="3600" dirty="0">
                <a:solidFill>
                  <a:srgbClr val="2E2D29"/>
                </a:solidFill>
                <a:latin typeface="Georgia" pitchFamily="34" charset="0"/>
                <a:ea typeface="Georgia" pitchFamily="34" charset="-122"/>
                <a:cs typeface="Georgia" pitchFamily="34" charset="-120"/>
              </a:rPr>
              <a:t>Nine instruments evaluated against Messick’s six aspects of validity.</a:t>
            </a:r>
            <a:endParaRPr lang="en-US" sz="3600" dirty="0"/>
          </a:p>
        </p:txBody>
      </p:sp>
      <p:sp>
        <p:nvSpPr>
          <p:cNvPr id="10" name="Text 4"/>
          <p:cNvSpPr txBox="1"/>
          <p:nvPr/>
        </p:nvSpPr>
        <p:spPr>
          <a:xfrm>
            <a:off x="1143000" y="3129077"/>
            <a:ext cx="3429000" cy="219456"/>
          </a:xfrm>
          <a:prstGeom prst="rect">
            <a:avLst/>
          </a:prstGeom>
          <a:noFill/>
          <a:ln/>
        </p:spPr>
        <p:txBody>
          <a:bodyPr wrap="square" lIns="0" tIns="0" rIns="0" bIns="0" rtlCol="0" anchor="ctr"/>
          <a:lstStyle/>
          <a:p>
            <a:pPr marL="0" indent="0" algn="l">
              <a:buNone/>
            </a:pPr>
            <a:r>
              <a:rPr lang="en-US" sz="1300" kern="0" spc="150" dirty="0">
                <a:solidFill>
                  <a:srgbClr val="6B6A65"/>
                </a:solidFill>
                <a:latin typeface="Calibri" pitchFamily="34" charset="0"/>
                <a:ea typeface="Calibri" pitchFamily="34" charset="-122"/>
                <a:cs typeface="Calibri" pitchFamily="34" charset="-120"/>
              </a:rPr>
              <a:t>Instrument</a:t>
            </a:r>
            <a:endParaRPr lang="en-US" sz="1300" dirty="0"/>
          </a:p>
        </p:txBody>
      </p:sp>
      <p:sp>
        <p:nvSpPr>
          <p:cNvPr id="11" name="Text 5"/>
          <p:cNvSpPr txBox="1"/>
          <p:nvPr/>
        </p:nvSpPr>
        <p:spPr>
          <a:xfrm>
            <a:off x="4646980" y="2928214"/>
            <a:ext cx="2019910" cy="219456"/>
          </a:xfrm>
          <a:prstGeom prst="rect">
            <a:avLst/>
          </a:prstGeom>
          <a:noFill/>
          <a:ln/>
        </p:spPr>
        <p:txBody>
          <a:bodyPr wrap="square" lIns="0" tIns="0" rIns="0" bIns="0" rtlCol="0" anchor="ctr"/>
          <a:lstStyle/>
          <a:p>
            <a:pPr marL="0" indent="0" algn="ctr">
              <a:buNone/>
            </a:pPr>
            <a:r>
              <a:rPr lang="en-US" sz="1300" b="1" kern="0" spc="150" dirty="0">
                <a:solidFill>
                  <a:srgbClr val="6B6A65"/>
                </a:solidFill>
                <a:latin typeface="Calibri" pitchFamily="34" charset="0"/>
                <a:ea typeface="Calibri" pitchFamily="34" charset="-122"/>
                <a:cs typeface="Calibri" pitchFamily="34" charset="-120"/>
              </a:rPr>
              <a:t>Content</a:t>
            </a:r>
            <a:endParaRPr lang="en-US" sz="1300" b="1" dirty="0"/>
          </a:p>
        </p:txBody>
      </p:sp>
      <p:sp>
        <p:nvSpPr>
          <p:cNvPr id="12" name="Text 6"/>
          <p:cNvSpPr txBox="1"/>
          <p:nvPr/>
        </p:nvSpPr>
        <p:spPr>
          <a:xfrm>
            <a:off x="6741870" y="2928214"/>
            <a:ext cx="2019910" cy="219456"/>
          </a:xfrm>
          <a:prstGeom prst="rect">
            <a:avLst/>
          </a:prstGeom>
          <a:noFill/>
          <a:ln/>
        </p:spPr>
        <p:txBody>
          <a:bodyPr wrap="square" lIns="0" tIns="0" rIns="0" bIns="0" rtlCol="0" anchor="ctr"/>
          <a:lstStyle/>
          <a:p>
            <a:pPr marL="0" indent="0" algn="ctr">
              <a:buNone/>
            </a:pPr>
            <a:r>
              <a:rPr lang="en-US" sz="1300" b="1" kern="0" spc="150" dirty="0">
                <a:solidFill>
                  <a:srgbClr val="8C1515"/>
                </a:solidFill>
                <a:latin typeface="Calibri" pitchFamily="34" charset="0"/>
                <a:ea typeface="Calibri" pitchFamily="34" charset="-122"/>
                <a:cs typeface="Calibri" pitchFamily="34" charset="-120"/>
              </a:rPr>
              <a:t>Substantive</a:t>
            </a:r>
            <a:endParaRPr lang="en-US" sz="1300" b="1" dirty="0"/>
          </a:p>
        </p:txBody>
      </p:sp>
      <p:sp>
        <p:nvSpPr>
          <p:cNvPr id="13" name="Text 7"/>
          <p:cNvSpPr txBox="1"/>
          <p:nvPr/>
        </p:nvSpPr>
        <p:spPr>
          <a:xfrm>
            <a:off x="8838590" y="2928214"/>
            <a:ext cx="2019910" cy="219456"/>
          </a:xfrm>
          <a:prstGeom prst="rect">
            <a:avLst/>
          </a:prstGeom>
          <a:noFill/>
          <a:ln/>
        </p:spPr>
        <p:txBody>
          <a:bodyPr wrap="square" lIns="0" tIns="0" rIns="0" bIns="0" rtlCol="0" anchor="ctr"/>
          <a:lstStyle/>
          <a:p>
            <a:pPr marL="0" indent="0" algn="ctr">
              <a:buNone/>
            </a:pPr>
            <a:r>
              <a:rPr lang="en-US" sz="1300" b="1" kern="0" spc="150" dirty="0">
                <a:solidFill>
                  <a:srgbClr val="6B6A65"/>
                </a:solidFill>
                <a:latin typeface="Calibri" pitchFamily="34" charset="0"/>
                <a:ea typeface="Calibri" pitchFamily="34" charset="-122"/>
                <a:cs typeface="Calibri" pitchFamily="34" charset="-120"/>
              </a:rPr>
              <a:t>Structural</a:t>
            </a:r>
            <a:endParaRPr lang="en-US" sz="1300" b="1" dirty="0"/>
          </a:p>
        </p:txBody>
      </p:sp>
      <p:sp>
        <p:nvSpPr>
          <p:cNvPr id="14" name="Text 8"/>
          <p:cNvSpPr txBox="1"/>
          <p:nvPr/>
        </p:nvSpPr>
        <p:spPr>
          <a:xfrm>
            <a:off x="10934395" y="2928214"/>
            <a:ext cx="2019910" cy="219456"/>
          </a:xfrm>
          <a:prstGeom prst="rect">
            <a:avLst/>
          </a:prstGeom>
          <a:noFill/>
          <a:ln/>
        </p:spPr>
        <p:txBody>
          <a:bodyPr wrap="square" lIns="0" tIns="0" rIns="0" bIns="0" rtlCol="0" anchor="ctr"/>
          <a:lstStyle/>
          <a:p>
            <a:pPr marL="0" indent="0" algn="ctr">
              <a:buNone/>
            </a:pPr>
            <a:r>
              <a:rPr lang="en-US" sz="1300" b="1" kern="0" spc="150" dirty="0">
                <a:solidFill>
                  <a:srgbClr val="6B6A65"/>
                </a:solidFill>
                <a:latin typeface="Calibri" pitchFamily="34" charset="0"/>
                <a:ea typeface="Calibri" pitchFamily="34" charset="-122"/>
                <a:cs typeface="Calibri" pitchFamily="34" charset="-120"/>
              </a:rPr>
              <a:t>Generalizability</a:t>
            </a:r>
            <a:endParaRPr lang="en-US" sz="1300" b="1" dirty="0"/>
          </a:p>
        </p:txBody>
      </p:sp>
      <p:sp>
        <p:nvSpPr>
          <p:cNvPr id="15" name="Text 9"/>
          <p:cNvSpPr txBox="1"/>
          <p:nvPr/>
        </p:nvSpPr>
        <p:spPr>
          <a:xfrm>
            <a:off x="13029285" y="2928214"/>
            <a:ext cx="2019910" cy="219456"/>
          </a:xfrm>
          <a:prstGeom prst="rect">
            <a:avLst/>
          </a:prstGeom>
          <a:noFill/>
          <a:ln/>
        </p:spPr>
        <p:txBody>
          <a:bodyPr wrap="square" lIns="0" tIns="0" rIns="0" bIns="0" rtlCol="0" anchor="ctr"/>
          <a:lstStyle/>
          <a:p>
            <a:pPr marL="0" indent="0" algn="ctr">
              <a:buNone/>
            </a:pPr>
            <a:r>
              <a:rPr lang="en-US" sz="1300" b="1" kern="0" spc="150" dirty="0">
                <a:solidFill>
                  <a:srgbClr val="6B6A65"/>
                </a:solidFill>
                <a:latin typeface="Calibri" pitchFamily="34" charset="0"/>
                <a:ea typeface="Calibri" pitchFamily="34" charset="-122"/>
                <a:cs typeface="Calibri" pitchFamily="34" charset="-120"/>
              </a:rPr>
              <a:t>External</a:t>
            </a:r>
            <a:endParaRPr lang="en-US" sz="1300" b="1" dirty="0"/>
          </a:p>
        </p:txBody>
      </p:sp>
      <p:sp>
        <p:nvSpPr>
          <p:cNvPr id="16" name="Text 10"/>
          <p:cNvSpPr txBox="1"/>
          <p:nvPr/>
        </p:nvSpPr>
        <p:spPr>
          <a:xfrm>
            <a:off x="15124175" y="2928214"/>
            <a:ext cx="2019910" cy="219456"/>
          </a:xfrm>
          <a:prstGeom prst="rect">
            <a:avLst/>
          </a:prstGeom>
          <a:noFill/>
          <a:ln/>
        </p:spPr>
        <p:txBody>
          <a:bodyPr wrap="square" lIns="0" tIns="0" rIns="0" bIns="0" rtlCol="0" anchor="ctr"/>
          <a:lstStyle/>
          <a:p>
            <a:pPr marL="0" indent="0" algn="ctr">
              <a:buNone/>
            </a:pPr>
            <a:r>
              <a:rPr lang="en-US" sz="1300" b="1" kern="0" spc="150" dirty="0">
                <a:solidFill>
                  <a:srgbClr val="8C1515"/>
                </a:solidFill>
                <a:latin typeface="Calibri" pitchFamily="34" charset="0"/>
                <a:ea typeface="Calibri" pitchFamily="34" charset="-122"/>
                <a:cs typeface="Calibri" pitchFamily="34" charset="-120"/>
              </a:rPr>
              <a:t>Consequential</a:t>
            </a:r>
            <a:endParaRPr lang="en-US" sz="1300" b="1" dirty="0"/>
          </a:p>
        </p:txBody>
      </p:sp>
      <p:sp>
        <p:nvSpPr>
          <p:cNvPr id="17" name="Shape 11"/>
          <p:cNvSpPr/>
          <p:nvPr/>
        </p:nvSpPr>
        <p:spPr>
          <a:xfrm>
            <a:off x="1143000" y="4172407"/>
            <a:ext cx="16002000" cy="9144"/>
          </a:xfrm>
          <a:prstGeom prst="rect">
            <a:avLst/>
          </a:prstGeom>
          <a:solidFill>
            <a:srgbClr val="D6D2CB"/>
          </a:solidFill>
          <a:ln w="12700">
            <a:solidFill>
              <a:srgbClr val="D6D2CB">
                <a:alpha val="0"/>
              </a:srgbClr>
            </a:solidFill>
            <a:prstDash val="solid"/>
          </a:ln>
        </p:spPr>
        <p:txBody>
          <a:bodyPr/>
          <a:lstStyle/>
          <a:p>
            <a:endParaRPr/>
          </a:p>
        </p:txBody>
      </p:sp>
      <p:sp>
        <p:nvSpPr>
          <p:cNvPr id="18" name="Text 12"/>
          <p:cNvSpPr txBox="1"/>
          <p:nvPr/>
        </p:nvSpPr>
        <p:spPr>
          <a:xfrm>
            <a:off x="1143000" y="3771900"/>
            <a:ext cx="3429000" cy="286207"/>
          </a:xfrm>
          <a:prstGeom prst="rect">
            <a:avLst/>
          </a:prstGeom>
          <a:noFill/>
          <a:ln/>
        </p:spPr>
        <p:txBody>
          <a:bodyPr wrap="square" lIns="0" tIns="0" rIns="0" bIns="0" rtlCol="0" anchor="ctr"/>
          <a:lstStyle/>
          <a:p>
            <a:pPr marL="0" indent="0" algn="l">
              <a:buNone/>
            </a:pPr>
            <a:r>
              <a:rPr lang="en-US" sz="1900" dirty="0">
                <a:solidFill>
                  <a:srgbClr val="2E2D29"/>
                </a:solidFill>
                <a:latin typeface="Georgia" pitchFamily="34" charset="0"/>
                <a:ea typeface="Georgia" pitchFamily="34" charset="-122"/>
                <a:cs typeface="Georgia" pitchFamily="34" charset="-120"/>
              </a:rPr>
              <a:t>AgentHarm (2024)</a:t>
            </a:r>
            <a:endParaRPr lang="en-US" sz="1900" dirty="0"/>
          </a:p>
        </p:txBody>
      </p:sp>
      <p:sp>
        <p:nvSpPr>
          <p:cNvPr id="19" name="Text 13"/>
          <p:cNvSpPr txBox="1"/>
          <p:nvPr/>
        </p:nvSpPr>
        <p:spPr>
          <a:xfrm>
            <a:off x="4647895" y="3757270"/>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20" name="Text 14"/>
          <p:cNvSpPr txBox="1"/>
          <p:nvPr/>
        </p:nvSpPr>
        <p:spPr>
          <a:xfrm>
            <a:off x="6743700" y="3757270"/>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21" name="Text 15"/>
          <p:cNvSpPr txBox="1"/>
          <p:nvPr/>
        </p:nvSpPr>
        <p:spPr>
          <a:xfrm>
            <a:off x="8839505" y="3757270"/>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22" name="Text 16"/>
          <p:cNvSpPr txBox="1"/>
          <p:nvPr/>
        </p:nvSpPr>
        <p:spPr>
          <a:xfrm>
            <a:off x="10934395" y="3757270"/>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23" name="Text 17"/>
          <p:cNvSpPr txBox="1"/>
          <p:nvPr/>
        </p:nvSpPr>
        <p:spPr>
          <a:xfrm>
            <a:off x="13030200" y="3757270"/>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24" name="Text 18"/>
          <p:cNvSpPr txBox="1"/>
          <p:nvPr/>
        </p:nvSpPr>
        <p:spPr>
          <a:xfrm>
            <a:off x="15126005" y="3757270"/>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25" name="Shape 19"/>
          <p:cNvSpPr/>
          <p:nvPr/>
        </p:nvSpPr>
        <p:spPr>
          <a:xfrm>
            <a:off x="1143000" y="4696358"/>
            <a:ext cx="16002000" cy="9144"/>
          </a:xfrm>
          <a:prstGeom prst="rect">
            <a:avLst/>
          </a:prstGeom>
          <a:solidFill>
            <a:srgbClr val="D6D2CB"/>
          </a:solidFill>
          <a:ln w="12700">
            <a:solidFill>
              <a:srgbClr val="D6D2CB">
                <a:alpha val="0"/>
              </a:srgbClr>
            </a:solidFill>
            <a:prstDash val="solid"/>
          </a:ln>
        </p:spPr>
        <p:txBody>
          <a:bodyPr/>
          <a:lstStyle/>
          <a:p>
            <a:endParaRPr/>
          </a:p>
        </p:txBody>
      </p:sp>
      <p:sp>
        <p:nvSpPr>
          <p:cNvPr id="26" name="Text 20"/>
          <p:cNvSpPr txBox="1"/>
          <p:nvPr/>
        </p:nvSpPr>
        <p:spPr>
          <a:xfrm>
            <a:off x="1143000" y="4295851"/>
            <a:ext cx="3429000" cy="286207"/>
          </a:xfrm>
          <a:prstGeom prst="rect">
            <a:avLst/>
          </a:prstGeom>
          <a:noFill/>
          <a:ln/>
        </p:spPr>
        <p:txBody>
          <a:bodyPr wrap="square" lIns="0" tIns="0" rIns="0" bIns="0" rtlCol="0" anchor="ctr"/>
          <a:lstStyle/>
          <a:p>
            <a:pPr marL="0" indent="0" algn="l">
              <a:buNone/>
            </a:pPr>
            <a:r>
              <a:rPr lang="en-US" sz="1900" dirty="0">
                <a:solidFill>
                  <a:srgbClr val="2E2D29"/>
                </a:solidFill>
                <a:latin typeface="Georgia" pitchFamily="34" charset="0"/>
                <a:ea typeface="Georgia" pitchFamily="34" charset="-122"/>
                <a:cs typeface="Georgia" pitchFamily="34" charset="-120"/>
              </a:rPr>
              <a:t>AgentDojo (2024)</a:t>
            </a:r>
            <a:endParaRPr lang="en-US" sz="1900" dirty="0"/>
          </a:p>
        </p:txBody>
      </p:sp>
      <p:sp>
        <p:nvSpPr>
          <p:cNvPr id="27" name="Text 21"/>
          <p:cNvSpPr txBox="1"/>
          <p:nvPr/>
        </p:nvSpPr>
        <p:spPr>
          <a:xfrm>
            <a:off x="4647895" y="4281221"/>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28" name="Text 22"/>
          <p:cNvSpPr txBox="1"/>
          <p:nvPr/>
        </p:nvSpPr>
        <p:spPr>
          <a:xfrm>
            <a:off x="6743700" y="4281221"/>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29" name="Text 23"/>
          <p:cNvSpPr txBox="1"/>
          <p:nvPr/>
        </p:nvSpPr>
        <p:spPr>
          <a:xfrm>
            <a:off x="8839505" y="4281221"/>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30" name="Text 24"/>
          <p:cNvSpPr txBox="1"/>
          <p:nvPr/>
        </p:nvSpPr>
        <p:spPr>
          <a:xfrm>
            <a:off x="10934395" y="4281221"/>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31" name="Text 25"/>
          <p:cNvSpPr txBox="1"/>
          <p:nvPr/>
        </p:nvSpPr>
        <p:spPr>
          <a:xfrm>
            <a:off x="13030200" y="4281221"/>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32" name="Text 26"/>
          <p:cNvSpPr txBox="1"/>
          <p:nvPr/>
        </p:nvSpPr>
        <p:spPr>
          <a:xfrm>
            <a:off x="15126005" y="4281221"/>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33" name="Shape 27"/>
          <p:cNvSpPr/>
          <p:nvPr/>
        </p:nvSpPr>
        <p:spPr>
          <a:xfrm>
            <a:off x="1143000" y="5220310"/>
            <a:ext cx="16002000" cy="9144"/>
          </a:xfrm>
          <a:prstGeom prst="rect">
            <a:avLst/>
          </a:prstGeom>
          <a:solidFill>
            <a:srgbClr val="D6D2CB"/>
          </a:solidFill>
          <a:ln w="12700">
            <a:solidFill>
              <a:srgbClr val="D6D2CB">
                <a:alpha val="0"/>
              </a:srgbClr>
            </a:solidFill>
            <a:prstDash val="solid"/>
          </a:ln>
        </p:spPr>
        <p:txBody>
          <a:bodyPr/>
          <a:lstStyle/>
          <a:p>
            <a:endParaRPr/>
          </a:p>
        </p:txBody>
      </p:sp>
      <p:sp>
        <p:nvSpPr>
          <p:cNvPr id="34" name="Text 28"/>
          <p:cNvSpPr txBox="1"/>
          <p:nvPr/>
        </p:nvSpPr>
        <p:spPr>
          <a:xfrm>
            <a:off x="1143000" y="4819802"/>
            <a:ext cx="3429000" cy="286207"/>
          </a:xfrm>
          <a:prstGeom prst="rect">
            <a:avLst/>
          </a:prstGeom>
          <a:noFill/>
          <a:ln/>
        </p:spPr>
        <p:txBody>
          <a:bodyPr wrap="square" lIns="0" tIns="0" rIns="0" bIns="0" rtlCol="0" anchor="ctr"/>
          <a:lstStyle/>
          <a:p>
            <a:pPr marL="0" indent="0" algn="l">
              <a:buNone/>
            </a:pPr>
            <a:r>
              <a:rPr lang="en-US" sz="1900" dirty="0">
                <a:solidFill>
                  <a:srgbClr val="2E2D29"/>
                </a:solidFill>
                <a:latin typeface="Georgia" pitchFamily="34" charset="0"/>
                <a:ea typeface="Georgia" pitchFamily="34" charset="-122"/>
                <a:cs typeface="Georgia" pitchFamily="34" charset="-120"/>
              </a:rPr>
              <a:t>RoboPAIR (2024)</a:t>
            </a:r>
            <a:endParaRPr lang="en-US" sz="1900" dirty="0"/>
          </a:p>
        </p:txBody>
      </p:sp>
      <p:sp>
        <p:nvSpPr>
          <p:cNvPr id="35" name="Text 29"/>
          <p:cNvSpPr txBox="1"/>
          <p:nvPr/>
        </p:nvSpPr>
        <p:spPr>
          <a:xfrm>
            <a:off x="4647895" y="4805172"/>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36" name="Text 30"/>
          <p:cNvSpPr txBox="1"/>
          <p:nvPr/>
        </p:nvSpPr>
        <p:spPr>
          <a:xfrm>
            <a:off x="6743700" y="4805172"/>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37" name="Text 31"/>
          <p:cNvSpPr txBox="1"/>
          <p:nvPr/>
        </p:nvSpPr>
        <p:spPr>
          <a:xfrm>
            <a:off x="8839505" y="4805172"/>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38" name="Text 32"/>
          <p:cNvSpPr txBox="1"/>
          <p:nvPr/>
        </p:nvSpPr>
        <p:spPr>
          <a:xfrm>
            <a:off x="10934395" y="4805172"/>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39" name="Text 33"/>
          <p:cNvSpPr txBox="1"/>
          <p:nvPr/>
        </p:nvSpPr>
        <p:spPr>
          <a:xfrm>
            <a:off x="13030200" y="4805172"/>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40" name="Text 34"/>
          <p:cNvSpPr txBox="1"/>
          <p:nvPr/>
        </p:nvSpPr>
        <p:spPr>
          <a:xfrm>
            <a:off x="15126005" y="4805172"/>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41" name="Shape 35"/>
          <p:cNvSpPr/>
          <p:nvPr/>
        </p:nvSpPr>
        <p:spPr>
          <a:xfrm>
            <a:off x="1143000" y="5744261"/>
            <a:ext cx="16002000" cy="9144"/>
          </a:xfrm>
          <a:prstGeom prst="rect">
            <a:avLst/>
          </a:prstGeom>
          <a:solidFill>
            <a:srgbClr val="D6D2CB"/>
          </a:solidFill>
          <a:ln w="12700">
            <a:solidFill>
              <a:srgbClr val="D6D2CB">
                <a:alpha val="0"/>
              </a:srgbClr>
            </a:solidFill>
            <a:prstDash val="solid"/>
          </a:ln>
        </p:spPr>
        <p:txBody>
          <a:bodyPr/>
          <a:lstStyle/>
          <a:p>
            <a:endParaRPr/>
          </a:p>
        </p:txBody>
      </p:sp>
      <p:sp>
        <p:nvSpPr>
          <p:cNvPr id="42" name="Text 36"/>
          <p:cNvSpPr txBox="1"/>
          <p:nvPr/>
        </p:nvSpPr>
        <p:spPr>
          <a:xfrm>
            <a:off x="1143000" y="5343754"/>
            <a:ext cx="3429000" cy="286207"/>
          </a:xfrm>
          <a:prstGeom prst="rect">
            <a:avLst/>
          </a:prstGeom>
          <a:noFill/>
          <a:ln/>
        </p:spPr>
        <p:txBody>
          <a:bodyPr wrap="square" lIns="0" tIns="0" rIns="0" bIns="0" rtlCol="0" anchor="ctr"/>
          <a:lstStyle/>
          <a:p>
            <a:pPr marL="0" indent="0" algn="l">
              <a:buNone/>
            </a:pPr>
            <a:r>
              <a:rPr lang="en-US" sz="1900" dirty="0">
                <a:solidFill>
                  <a:srgbClr val="2E2D29"/>
                </a:solidFill>
                <a:latin typeface="Georgia" pitchFamily="34" charset="0"/>
                <a:ea typeface="Georgia" pitchFamily="34" charset="-122"/>
                <a:cs typeface="Georgia" pitchFamily="34" charset="-120"/>
              </a:rPr>
              <a:t>ToolEmu (2024)</a:t>
            </a:r>
            <a:endParaRPr lang="en-US" sz="1900" dirty="0"/>
          </a:p>
        </p:txBody>
      </p:sp>
      <p:sp>
        <p:nvSpPr>
          <p:cNvPr id="43" name="Text 37"/>
          <p:cNvSpPr txBox="1"/>
          <p:nvPr/>
        </p:nvSpPr>
        <p:spPr>
          <a:xfrm>
            <a:off x="4647895" y="5329123"/>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44" name="Text 38"/>
          <p:cNvSpPr txBox="1"/>
          <p:nvPr/>
        </p:nvSpPr>
        <p:spPr>
          <a:xfrm>
            <a:off x="6743700" y="5329123"/>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45" name="Text 39"/>
          <p:cNvSpPr txBox="1"/>
          <p:nvPr/>
        </p:nvSpPr>
        <p:spPr>
          <a:xfrm>
            <a:off x="8839505" y="5329123"/>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46" name="Text 40"/>
          <p:cNvSpPr txBox="1"/>
          <p:nvPr/>
        </p:nvSpPr>
        <p:spPr>
          <a:xfrm>
            <a:off x="10934395" y="5329123"/>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47" name="Text 41"/>
          <p:cNvSpPr txBox="1"/>
          <p:nvPr/>
        </p:nvSpPr>
        <p:spPr>
          <a:xfrm>
            <a:off x="13030200" y="5329123"/>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48" name="Text 42"/>
          <p:cNvSpPr txBox="1"/>
          <p:nvPr/>
        </p:nvSpPr>
        <p:spPr>
          <a:xfrm>
            <a:off x="15126005" y="5329123"/>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49" name="Shape 43"/>
          <p:cNvSpPr/>
          <p:nvPr/>
        </p:nvSpPr>
        <p:spPr>
          <a:xfrm>
            <a:off x="1143000" y="6268212"/>
            <a:ext cx="16002000" cy="9144"/>
          </a:xfrm>
          <a:prstGeom prst="rect">
            <a:avLst/>
          </a:prstGeom>
          <a:solidFill>
            <a:srgbClr val="D6D2CB"/>
          </a:solidFill>
          <a:ln w="12700">
            <a:solidFill>
              <a:srgbClr val="D6D2CB">
                <a:alpha val="0"/>
              </a:srgbClr>
            </a:solidFill>
            <a:prstDash val="solid"/>
          </a:ln>
        </p:spPr>
        <p:txBody>
          <a:bodyPr/>
          <a:lstStyle/>
          <a:p>
            <a:endParaRPr/>
          </a:p>
        </p:txBody>
      </p:sp>
      <p:sp>
        <p:nvSpPr>
          <p:cNvPr id="50" name="Text 44"/>
          <p:cNvSpPr txBox="1"/>
          <p:nvPr/>
        </p:nvSpPr>
        <p:spPr>
          <a:xfrm>
            <a:off x="1143000" y="5867705"/>
            <a:ext cx="3429000" cy="286207"/>
          </a:xfrm>
          <a:prstGeom prst="rect">
            <a:avLst/>
          </a:prstGeom>
          <a:noFill/>
          <a:ln/>
        </p:spPr>
        <p:txBody>
          <a:bodyPr wrap="square" lIns="0" tIns="0" rIns="0" bIns="0" rtlCol="0" anchor="ctr"/>
          <a:lstStyle/>
          <a:p>
            <a:pPr marL="0" indent="0" algn="l">
              <a:buNone/>
            </a:pPr>
            <a:r>
              <a:rPr lang="en-US" sz="1900" dirty="0">
                <a:solidFill>
                  <a:srgbClr val="2E2D29"/>
                </a:solidFill>
                <a:latin typeface="Georgia" pitchFamily="34" charset="0"/>
                <a:ea typeface="Georgia" pitchFamily="34" charset="-122"/>
                <a:cs typeface="Georgia" pitchFamily="34" charset="-120"/>
              </a:rPr>
              <a:t>R-Judge (2024)</a:t>
            </a:r>
            <a:endParaRPr lang="en-US" sz="1900" dirty="0"/>
          </a:p>
        </p:txBody>
      </p:sp>
      <p:sp>
        <p:nvSpPr>
          <p:cNvPr id="51" name="Text 45"/>
          <p:cNvSpPr txBox="1"/>
          <p:nvPr/>
        </p:nvSpPr>
        <p:spPr>
          <a:xfrm>
            <a:off x="4647895" y="5853074"/>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52" name="Text 46"/>
          <p:cNvSpPr txBox="1"/>
          <p:nvPr/>
        </p:nvSpPr>
        <p:spPr>
          <a:xfrm>
            <a:off x="6743700" y="5853074"/>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53" name="Text 47"/>
          <p:cNvSpPr txBox="1"/>
          <p:nvPr/>
        </p:nvSpPr>
        <p:spPr>
          <a:xfrm>
            <a:off x="8839505" y="5853074"/>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54" name="Text 48"/>
          <p:cNvSpPr txBox="1"/>
          <p:nvPr/>
        </p:nvSpPr>
        <p:spPr>
          <a:xfrm>
            <a:off x="10934395" y="5853074"/>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55" name="Text 49"/>
          <p:cNvSpPr txBox="1"/>
          <p:nvPr/>
        </p:nvSpPr>
        <p:spPr>
          <a:xfrm>
            <a:off x="13030200" y="5853074"/>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56" name="Text 50"/>
          <p:cNvSpPr txBox="1"/>
          <p:nvPr/>
        </p:nvSpPr>
        <p:spPr>
          <a:xfrm>
            <a:off x="15126005" y="5853074"/>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57" name="Shape 51"/>
          <p:cNvSpPr/>
          <p:nvPr/>
        </p:nvSpPr>
        <p:spPr>
          <a:xfrm>
            <a:off x="1143000" y="6792163"/>
            <a:ext cx="16002000" cy="9144"/>
          </a:xfrm>
          <a:prstGeom prst="rect">
            <a:avLst/>
          </a:prstGeom>
          <a:solidFill>
            <a:srgbClr val="D6D2CB"/>
          </a:solidFill>
          <a:ln w="12700">
            <a:solidFill>
              <a:srgbClr val="D6D2CB">
                <a:alpha val="0"/>
              </a:srgbClr>
            </a:solidFill>
            <a:prstDash val="solid"/>
          </a:ln>
        </p:spPr>
        <p:txBody>
          <a:bodyPr/>
          <a:lstStyle/>
          <a:p>
            <a:endParaRPr/>
          </a:p>
        </p:txBody>
      </p:sp>
      <p:sp>
        <p:nvSpPr>
          <p:cNvPr id="58" name="Text 52"/>
          <p:cNvSpPr txBox="1"/>
          <p:nvPr/>
        </p:nvSpPr>
        <p:spPr>
          <a:xfrm>
            <a:off x="1143000" y="6391656"/>
            <a:ext cx="3429000" cy="286207"/>
          </a:xfrm>
          <a:prstGeom prst="rect">
            <a:avLst/>
          </a:prstGeom>
          <a:noFill/>
          <a:ln/>
        </p:spPr>
        <p:txBody>
          <a:bodyPr wrap="square" lIns="0" tIns="0" rIns="0" bIns="0" rtlCol="0" anchor="ctr"/>
          <a:lstStyle/>
          <a:p>
            <a:pPr marL="0" indent="0" algn="l">
              <a:buNone/>
            </a:pPr>
            <a:r>
              <a:rPr lang="en-US" sz="1900" dirty="0">
                <a:solidFill>
                  <a:srgbClr val="2E2D29"/>
                </a:solidFill>
                <a:latin typeface="Georgia" pitchFamily="34" charset="0"/>
                <a:ea typeface="Georgia" pitchFamily="34" charset="-122"/>
                <a:cs typeface="Georgia" pitchFamily="34" charset="-120"/>
              </a:rPr>
              <a:t>Agent-SafetyBench (2024)</a:t>
            </a:r>
            <a:endParaRPr lang="en-US" sz="1900" dirty="0"/>
          </a:p>
        </p:txBody>
      </p:sp>
      <p:sp>
        <p:nvSpPr>
          <p:cNvPr id="59" name="Text 53"/>
          <p:cNvSpPr txBox="1"/>
          <p:nvPr/>
        </p:nvSpPr>
        <p:spPr>
          <a:xfrm>
            <a:off x="4647895" y="6377026"/>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60" name="Text 54"/>
          <p:cNvSpPr txBox="1"/>
          <p:nvPr/>
        </p:nvSpPr>
        <p:spPr>
          <a:xfrm>
            <a:off x="6743700" y="6377026"/>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61" name="Text 55"/>
          <p:cNvSpPr txBox="1"/>
          <p:nvPr/>
        </p:nvSpPr>
        <p:spPr>
          <a:xfrm>
            <a:off x="8839505" y="6377026"/>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62" name="Text 56"/>
          <p:cNvSpPr txBox="1"/>
          <p:nvPr/>
        </p:nvSpPr>
        <p:spPr>
          <a:xfrm>
            <a:off x="10934395" y="6377026"/>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63" name="Text 57"/>
          <p:cNvSpPr txBox="1"/>
          <p:nvPr/>
        </p:nvSpPr>
        <p:spPr>
          <a:xfrm>
            <a:off x="13030200" y="6377026"/>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64" name="Text 58"/>
          <p:cNvSpPr txBox="1"/>
          <p:nvPr/>
        </p:nvSpPr>
        <p:spPr>
          <a:xfrm>
            <a:off x="15126005" y="6377026"/>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65" name="Shape 59"/>
          <p:cNvSpPr/>
          <p:nvPr/>
        </p:nvSpPr>
        <p:spPr>
          <a:xfrm>
            <a:off x="1143000" y="7316114"/>
            <a:ext cx="16002000" cy="9144"/>
          </a:xfrm>
          <a:prstGeom prst="rect">
            <a:avLst/>
          </a:prstGeom>
          <a:solidFill>
            <a:srgbClr val="D6D2CB"/>
          </a:solidFill>
          <a:ln w="12700">
            <a:solidFill>
              <a:srgbClr val="D6D2CB">
                <a:alpha val="0"/>
              </a:srgbClr>
            </a:solidFill>
            <a:prstDash val="solid"/>
          </a:ln>
        </p:spPr>
        <p:txBody>
          <a:bodyPr/>
          <a:lstStyle/>
          <a:p>
            <a:endParaRPr/>
          </a:p>
        </p:txBody>
      </p:sp>
      <p:sp>
        <p:nvSpPr>
          <p:cNvPr id="66" name="Text 60"/>
          <p:cNvSpPr txBox="1"/>
          <p:nvPr/>
        </p:nvSpPr>
        <p:spPr>
          <a:xfrm>
            <a:off x="1143000" y="6915607"/>
            <a:ext cx="3429000" cy="286207"/>
          </a:xfrm>
          <a:prstGeom prst="rect">
            <a:avLst/>
          </a:prstGeom>
          <a:noFill/>
          <a:ln/>
        </p:spPr>
        <p:txBody>
          <a:bodyPr wrap="square" lIns="0" tIns="0" rIns="0" bIns="0" rtlCol="0" anchor="ctr"/>
          <a:lstStyle/>
          <a:p>
            <a:pPr marL="0" indent="0" algn="l">
              <a:buNone/>
            </a:pPr>
            <a:r>
              <a:rPr lang="en-US" sz="1900" dirty="0">
                <a:solidFill>
                  <a:srgbClr val="2E2D29"/>
                </a:solidFill>
                <a:latin typeface="Georgia" pitchFamily="34" charset="0"/>
                <a:ea typeface="Georgia" pitchFamily="34" charset="-122"/>
                <a:cs typeface="Georgia" pitchFamily="34" charset="-120"/>
              </a:rPr>
              <a:t>DriftBench (2026)</a:t>
            </a:r>
            <a:endParaRPr lang="en-US" sz="1900" dirty="0"/>
          </a:p>
        </p:txBody>
      </p:sp>
      <p:sp>
        <p:nvSpPr>
          <p:cNvPr id="67" name="Text 61"/>
          <p:cNvSpPr txBox="1"/>
          <p:nvPr/>
        </p:nvSpPr>
        <p:spPr>
          <a:xfrm>
            <a:off x="4647895" y="6900977"/>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68" name="Text 62"/>
          <p:cNvSpPr txBox="1"/>
          <p:nvPr/>
        </p:nvSpPr>
        <p:spPr>
          <a:xfrm>
            <a:off x="6743700" y="6900977"/>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69" name="Text 63"/>
          <p:cNvSpPr txBox="1"/>
          <p:nvPr/>
        </p:nvSpPr>
        <p:spPr>
          <a:xfrm>
            <a:off x="8839505" y="6900977"/>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70" name="Text 64"/>
          <p:cNvSpPr txBox="1"/>
          <p:nvPr/>
        </p:nvSpPr>
        <p:spPr>
          <a:xfrm>
            <a:off x="10934395" y="6900977"/>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71" name="Text 65"/>
          <p:cNvSpPr txBox="1"/>
          <p:nvPr/>
        </p:nvSpPr>
        <p:spPr>
          <a:xfrm>
            <a:off x="13030200" y="6900977"/>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72" name="Text 66"/>
          <p:cNvSpPr txBox="1"/>
          <p:nvPr/>
        </p:nvSpPr>
        <p:spPr>
          <a:xfrm>
            <a:off x="15126005" y="6900977"/>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73" name="Shape 67"/>
          <p:cNvSpPr/>
          <p:nvPr/>
        </p:nvSpPr>
        <p:spPr>
          <a:xfrm>
            <a:off x="1143000" y="7839151"/>
            <a:ext cx="16002000" cy="9144"/>
          </a:xfrm>
          <a:prstGeom prst="rect">
            <a:avLst/>
          </a:prstGeom>
          <a:solidFill>
            <a:srgbClr val="D6D2CB"/>
          </a:solidFill>
          <a:ln w="12700">
            <a:solidFill>
              <a:srgbClr val="D6D2CB">
                <a:alpha val="0"/>
              </a:srgbClr>
            </a:solidFill>
            <a:prstDash val="solid"/>
          </a:ln>
        </p:spPr>
        <p:txBody>
          <a:bodyPr/>
          <a:lstStyle/>
          <a:p>
            <a:endParaRPr/>
          </a:p>
        </p:txBody>
      </p:sp>
      <p:sp>
        <p:nvSpPr>
          <p:cNvPr id="74" name="Text 68"/>
          <p:cNvSpPr txBox="1"/>
          <p:nvPr/>
        </p:nvSpPr>
        <p:spPr>
          <a:xfrm>
            <a:off x="1143000" y="7438644"/>
            <a:ext cx="3429000" cy="286207"/>
          </a:xfrm>
          <a:prstGeom prst="rect">
            <a:avLst/>
          </a:prstGeom>
          <a:noFill/>
          <a:ln/>
        </p:spPr>
        <p:txBody>
          <a:bodyPr wrap="square" lIns="0" tIns="0" rIns="0" bIns="0" rtlCol="0" anchor="ctr"/>
          <a:lstStyle/>
          <a:p>
            <a:pPr marL="0" indent="0" algn="l">
              <a:buNone/>
            </a:pPr>
            <a:r>
              <a:rPr lang="en-US" sz="1900" dirty="0">
                <a:solidFill>
                  <a:srgbClr val="2E2D29"/>
                </a:solidFill>
                <a:latin typeface="Georgia" pitchFamily="34" charset="0"/>
                <a:ea typeface="Georgia" pitchFamily="34" charset="-122"/>
                <a:cs typeface="Georgia" pitchFamily="34" charset="-120"/>
              </a:rPr>
              <a:t>SafeAgentBench (2024)</a:t>
            </a:r>
            <a:endParaRPr lang="en-US" sz="1900" dirty="0"/>
          </a:p>
        </p:txBody>
      </p:sp>
      <p:sp>
        <p:nvSpPr>
          <p:cNvPr id="75" name="Text 69"/>
          <p:cNvSpPr txBox="1"/>
          <p:nvPr/>
        </p:nvSpPr>
        <p:spPr>
          <a:xfrm>
            <a:off x="4647895" y="7424928"/>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76" name="Text 70"/>
          <p:cNvSpPr txBox="1"/>
          <p:nvPr/>
        </p:nvSpPr>
        <p:spPr>
          <a:xfrm>
            <a:off x="6743700" y="7424928"/>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77" name="Text 71"/>
          <p:cNvSpPr txBox="1"/>
          <p:nvPr/>
        </p:nvSpPr>
        <p:spPr>
          <a:xfrm>
            <a:off x="8839505" y="7424928"/>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78" name="Text 72"/>
          <p:cNvSpPr txBox="1"/>
          <p:nvPr/>
        </p:nvSpPr>
        <p:spPr>
          <a:xfrm>
            <a:off x="10934395" y="7424928"/>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79" name="Text 73"/>
          <p:cNvSpPr txBox="1"/>
          <p:nvPr/>
        </p:nvSpPr>
        <p:spPr>
          <a:xfrm>
            <a:off x="13030200" y="7424928"/>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80" name="Text 74"/>
          <p:cNvSpPr txBox="1"/>
          <p:nvPr/>
        </p:nvSpPr>
        <p:spPr>
          <a:xfrm>
            <a:off x="15126005" y="7424928"/>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81" name="Text 75"/>
          <p:cNvSpPr txBox="1"/>
          <p:nvPr/>
        </p:nvSpPr>
        <p:spPr>
          <a:xfrm>
            <a:off x="1143000" y="7962595"/>
            <a:ext cx="3429000" cy="286207"/>
          </a:xfrm>
          <a:prstGeom prst="rect">
            <a:avLst/>
          </a:prstGeom>
          <a:noFill/>
          <a:ln/>
        </p:spPr>
        <p:txBody>
          <a:bodyPr wrap="square" lIns="0" tIns="0" rIns="0" bIns="0" rtlCol="0" anchor="ctr"/>
          <a:lstStyle/>
          <a:p>
            <a:r>
              <a:rPr lang="en-US" sz="1900" dirty="0">
                <a:solidFill>
                  <a:srgbClr val="2E2D29"/>
                </a:solidFill>
                <a:latin typeface="Georgia" pitchFamily="34" charset="0"/>
                <a:ea typeface="Georgia" pitchFamily="34" charset="-122"/>
                <a:cs typeface="Georgia" pitchFamily="34" charset="-120"/>
              </a:rPr>
              <a:t>HEAL (2025)</a:t>
            </a:r>
            <a:endParaRPr lang="en-US" sz="1900" dirty="0"/>
          </a:p>
        </p:txBody>
      </p:sp>
      <p:sp>
        <p:nvSpPr>
          <p:cNvPr id="82" name="Text 76"/>
          <p:cNvSpPr txBox="1"/>
          <p:nvPr/>
        </p:nvSpPr>
        <p:spPr>
          <a:xfrm>
            <a:off x="4647895" y="7948879"/>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83" name="Text 77"/>
          <p:cNvSpPr txBox="1"/>
          <p:nvPr/>
        </p:nvSpPr>
        <p:spPr>
          <a:xfrm>
            <a:off x="6743700" y="7948879"/>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b="1" kern="0" spc="75" dirty="0">
                <a:solidFill>
                  <a:srgbClr val="2E2D29"/>
                </a:solidFill>
                <a:latin typeface="Calibri" pitchFamily="34" charset="0"/>
                <a:ea typeface="Calibri" pitchFamily="34" charset="-122"/>
                <a:cs typeface="Calibri" pitchFamily="34" charset="-120"/>
              </a:rPr>
              <a:t>P</a:t>
            </a:r>
            <a:endParaRPr lang="en-US" sz="1900" dirty="0"/>
          </a:p>
        </p:txBody>
      </p:sp>
      <p:sp>
        <p:nvSpPr>
          <p:cNvPr id="84" name="Text 78"/>
          <p:cNvSpPr txBox="1"/>
          <p:nvPr/>
        </p:nvSpPr>
        <p:spPr>
          <a:xfrm>
            <a:off x="8839505" y="7948879"/>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85" name="Text 79"/>
          <p:cNvSpPr txBox="1"/>
          <p:nvPr/>
        </p:nvSpPr>
        <p:spPr>
          <a:xfrm>
            <a:off x="10934395" y="7948879"/>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86" name="Text 80"/>
          <p:cNvSpPr txBox="1"/>
          <p:nvPr/>
        </p:nvSpPr>
        <p:spPr>
          <a:xfrm>
            <a:off x="13030200" y="7948879"/>
            <a:ext cx="2019910" cy="314554"/>
          </a:xfrm>
          <a:prstGeom prst="rect">
            <a:avLst/>
          </a:prstGeom>
          <a:no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87" name="Text 81"/>
          <p:cNvSpPr txBox="1"/>
          <p:nvPr/>
        </p:nvSpPr>
        <p:spPr>
          <a:xfrm>
            <a:off x="15126005" y="7948879"/>
            <a:ext cx="2019910" cy="314554"/>
          </a:xfrm>
          <a:prstGeom prst="rect">
            <a:avLst/>
          </a:prstGeom>
          <a:solidFill>
            <a:srgbClr val="ECE6DE"/>
          </a:solidFill>
          <a:ln>
            <a:solidFill>
              <a:srgbClr val="FFFFFF">
                <a:alpha val="0"/>
              </a:srgbClr>
            </a:solidFill>
          </a:ln>
        </p:spPr>
        <p:txBody>
          <a:bodyPr wrap="square" lIns="0" tIns="0" rIns="0" bIns="0" rtlCol="0" anchor="ctr"/>
          <a:lstStyle/>
          <a:p>
            <a:pPr marL="0" indent="0" algn="ctr">
              <a:buNone/>
            </a:pPr>
            <a:r>
              <a:rPr lang="en-US" sz="1900" kern="0" spc="75" dirty="0">
                <a:solidFill>
                  <a:srgbClr val="B8B4AC"/>
                </a:solidFill>
                <a:latin typeface="Calibri" pitchFamily="34" charset="0"/>
                <a:ea typeface="Calibri" pitchFamily="34" charset="-122"/>
                <a:cs typeface="Calibri" pitchFamily="34" charset="-120"/>
              </a:rPr>
              <a:t>U</a:t>
            </a:r>
            <a:endParaRPr lang="en-US" sz="1900" dirty="0"/>
          </a:p>
        </p:txBody>
      </p:sp>
      <p:sp>
        <p:nvSpPr>
          <p:cNvPr id="88" name="Text 82"/>
          <p:cNvSpPr txBox="1"/>
          <p:nvPr/>
        </p:nvSpPr>
        <p:spPr>
          <a:xfrm>
            <a:off x="1143000" y="8876995"/>
            <a:ext cx="5715000" cy="438912"/>
          </a:xfrm>
          <a:prstGeom prst="rect">
            <a:avLst/>
          </a:prstGeom>
          <a:noFill/>
          <a:ln/>
        </p:spPr>
        <p:txBody>
          <a:bodyPr wrap="square" lIns="0" tIns="0" rIns="0" bIns="0" rtlCol="0" anchor="ctr"/>
          <a:lstStyle/>
          <a:p>
            <a:pPr marL="0" indent="0" algn="l">
              <a:buNone/>
            </a:pPr>
            <a:r>
              <a:rPr lang="en-US" sz="1300" b="1" kern="0" spc="75" dirty="0">
                <a:solidFill>
                  <a:srgbClr val="2E2D29"/>
                </a:solidFill>
                <a:latin typeface="Calibri" pitchFamily="34" charset="0"/>
                <a:ea typeface="Calibri" pitchFamily="34" charset="-122"/>
                <a:cs typeface="Calibri" pitchFamily="34" charset="-120"/>
              </a:rPr>
              <a:t>C</a:t>
            </a:r>
            <a:r>
              <a:rPr lang="en-US" sz="1300" kern="0" spc="75" dirty="0">
                <a:solidFill>
                  <a:srgbClr val="6B6A65"/>
                </a:solidFill>
                <a:latin typeface="Calibri" pitchFamily="34" charset="0"/>
                <a:ea typeface="Calibri" pitchFamily="34" charset="-122"/>
                <a:cs typeface="Calibri" pitchFamily="34" charset="-120"/>
              </a:rPr>
              <a:t> covered · </a:t>
            </a:r>
            <a:r>
              <a:rPr lang="en-US" sz="1300" b="1" kern="0" spc="75" dirty="0">
                <a:solidFill>
                  <a:srgbClr val="2E2D29"/>
                </a:solidFill>
                <a:latin typeface="Calibri" pitchFamily="34" charset="0"/>
                <a:ea typeface="Calibri" pitchFamily="34" charset="-122"/>
                <a:cs typeface="Calibri" pitchFamily="34" charset="-120"/>
              </a:rPr>
              <a:t>P</a:t>
            </a:r>
            <a:r>
              <a:rPr lang="en-US" sz="1300" kern="0" spc="75" dirty="0">
                <a:solidFill>
                  <a:srgbClr val="6B6A65"/>
                </a:solidFill>
                <a:latin typeface="Calibri" pitchFamily="34" charset="0"/>
                <a:ea typeface="Calibri" pitchFamily="34" charset="-122"/>
                <a:cs typeface="Calibri" pitchFamily="34" charset="-120"/>
              </a:rPr>
              <a:t> partial · </a:t>
            </a:r>
            <a:r>
              <a:rPr lang="en-US" sz="1300" b="1" kern="0" spc="75" dirty="0">
                <a:solidFill>
                  <a:srgbClr val="2E2D29"/>
                </a:solidFill>
                <a:latin typeface="Calibri" pitchFamily="34" charset="0"/>
                <a:ea typeface="Calibri" pitchFamily="34" charset="-122"/>
                <a:cs typeface="Calibri" pitchFamily="34" charset="-120"/>
              </a:rPr>
              <a:t>U</a:t>
            </a:r>
            <a:r>
              <a:rPr lang="en-US" sz="1300" kern="0" spc="75" dirty="0">
                <a:solidFill>
                  <a:srgbClr val="6B6A65"/>
                </a:solidFill>
                <a:latin typeface="Calibri" pitchFamily="34" charset="0"/>
                <a:ea typeface="Calibri" pitchFamily="34" charset="-122"/>
                <a:cs typeface="Calibri" pitchFamily="34" charset="-120"/>
              </a:rPr>
              <a:t> unaddressed · </a:t>
            </a:r>
            <a:r>
              <a:rPr lang="en-US" sz="1300" kern="0" spc="75" dirty="0">
                <a:solidFill>
                  <a:srgbClr val="8C1515"/>
                </a:solidFill>
                <a:latin typeface="Calibri" pitchFamily="34" charset="0"/>
                <a:ea typeface="Calibri" pitchFamily="34" charset="-122"/>
                <a:cs typeface="Calibri" pitchFamily="34" charset="-120"/>
              </a:rPr>
              <a:t>shaded</a:t>
            </a:r>
            <a:r>
              <a:rPr lang="en-US" sz="1300" kern="0" spc="75" dirty="0">
                <a:solidFill>
                  <a:srgbClr val="6B6A65"/>
                </a:solidFill>
                <a:latin typeface="Calibri" pitchFamily="34" charset="0"/>
                <a:ea typeface="Calibri" pitchFamily="34" charset="-122"/>
                <a:cs typeface="Calibri" pitchFamily="34" charset="-120"/>
              </a:rPr>
              <a:t> columns highlighted in talk </a:t>
            </a:r>
            <a:endParaRPr lang="en-US" sz="1300" dirty="0"/>
          </a:p>
        </p:txBody>
      </p:sp>
      <p:sp>
        <p:nvSpPr>
          <p:cNvPr id="89" name="Text 83"/>
          <p:cNvSpPr txBox="1"/>
          <p:nvPr/>
        </p:nvSpPr>
        <p:spPr>
          <a:xfrm>
            <a:off x="1143000" y="9358199"/>
            <a:ext cx="16687800" cy="381305"/>
          </a:xfrm>
          <a:prstGeom prst="rect">
            <a:avLst/>
          </a:prstGeom>
          <a:noFill/>
          <a:ln/>
        </p:spPr>
        <p:txBody>
          <a:bodyPr wrap="square" lIns="0" tIns="0" rIns="0" bIns="0" rtlCol="0" anchor="ctr"/>
          <a:lstStyle/>
          <a:p>
            <a:pPr marL="0" indent="0" algn="l">
              <a:buNone/>
            </a:pPr>
            <a:r>
              <a:rPr lang="en-US" sz="2100" i="1" dirty="0">
                <a:solidFill>
                  <a:srgbClr val="8C1515"/>
                </a:solidFill>
                <a:latin typeface="Georgia" pitchFamily="34" charset="0"/>
                <a:ea typeface="Georgia" pitchFamily="34" charset="-122"/>
                <a:cs typeface="Georgia" pitchFamily="34" charset="-120"/>
              </a:rPr>
              <a:t> The substantive aspect — the cognitive-process claim that hallucination caused the violation — is essentially undefended in the surveyed corpus. </a:t>
            </a:r>
            <a:endParaRPr lang="en-US" sz="2100" dirty="0"/>
          </a:p>
        </p:txBody>
      </p:sp>
      <p:sp>
        <p:nvSpPr>
          <p:cNvPr id="90" name="TextBox 89"/>
          <p:cNvSpPr txBox="1"/>
          <p:nvPr/>
        </p:nvSpPr>
        <p:spPr>
          <a:xfrm>
            <a:off x="1143000" y="8278802"/>
            <a:ext cx="65" cy="215444"/>
          </a:xfrm>
          <a:prstGeom prst="rect">
            <a:avLst/>
          </a:prstGeom>
          <a:noFill/>
        </p:spPr>
        <p:txBody>
          <a:bodyPr wrap="none" lIns="0" tIns="0" rIns="0" bIns="0">
            <a:spAutoFit/>
          </a:bodyPr>
          <a:lstStyle/>
          <a:p>
            <a:endParaRPr sz="1400" b="1" dirty="0">
              <a:solidFill>
                <a:srgbClr val="8C1515"/>
              </a:solidFill>
            </a:endParaRPr>
          </a:p>
        </p:txBody>
      </p:sp>
      <p:sp>
        <p:nvSpPr>
          <p:cNvPr id="97" name="Shape 67">
            <a:extLst>
              <a:ext uri="{FF2B5EF4-FFF2-40B4-BE49-F238E27FC236}">
                <a16:creationId xmlns:a16="http://schemas.microsoft.com/office/drawing/2014/main" id="{B3DF64CA-5648-88CF-586B-5FB553CF3D04}"/>
              </a:ext>
            </a:extLst>
          </p:cNvPr>
          <p:cNvSpPr/>
          <p:nvPr/>
        </p:nvSpPr>
        <p:spPr>
          <a:xfrm>
            <a:off x="1143000" y="8362188"/>
            <a:ext cx="16002000" cy="9144"/>
          </a:xfrm>
          <a:prstGeom prst="rect">
            <a:avLst/>
          </a:prstGeom>
          <a:solidFill>
            <a:srgbClr val="D6D2CB"/>
          </a:solidFill>
          <a:ln w="12700">
            <a:solidFill>
              <a:srgbClr val="D6D2CB">
                <a:alpha val="0"/>
              </a:srgbClr>
            </a:solidFill>
            <a:prstDash val="solid"/>
          </a:ln>
        </p:spPr>
        <p:txBody>
          <a:bodyPr/>
          <a:lstStyle/>
          <a:p>
            <a:endParaRPr/>
          </a:p>
        </p:txBody>
      </p:sp>
      <p:sp>
        <p:nvSpPr>
          <p:cNvPr id="98" name="Text 75">
            <a:extLst>
              <a:ext uri="{FF2B5EF4-FFF2-40B4-BE49-F238E27FC236}">
                <a16:creationId xmlns:a16="http://schemas.microsoft.com/office/drawing/2014/main" id="{E9081CC6-E34B-3C1A-BD5F-50485B2419F2}"/>
              </a:ext>
            </a:extLst>
          </p:cNvPr>
          <p:cNvSpPr txBox="1"/>
          <p:nvPr/>
        </p:nvSpPr>
        <p:spPr>
          <a:xfrm>
            <a:off x="1143000" y="8453171"/>
            <a:ext cx="3429000" cy="286207"/>
          </a:xfrm>
          <a:prstGeom prst="rect">
            <a:avLst/>
          </a:prstGeom>
          <a:noFill/>
          <a:ln/>
        </p:spPr>
        <p:txBody>
          <a:bodyPr wrap="square" lIns="0" tIns="0" rIns="0" bIns="0" rtlCol="0" anchor="ctr"/>
          <a:lstStyle/>
          <a:p>
            <a:r>
              <a:rPr lang="en-US" sz="1900" dirty="0">
                <a:solidFill>
                  <a:srgbClr val="2E2D29"/>
                </a:solidFill>
                <a:latin typeface="Georgia" pitchFamily="34" charset="0"/>
                <a:ea typeface="Georgia" pitchFamily="34" charset="-122"/>
                <a:cs typeface="Georgia" pitchFamily="34" charset="-120"/>
              </a:rPr>
              <a:t>HIUA-Bench </a:t>
            </a:r>
            <a:endParaRPr lang="en-US" sz="1900" dirty="0"/>
          </a:p>
        </p:txBody>
      </p:sp>
      <p:sp>
        <p:nvSpPr>
          <p:cNvPr id="99" name="Text 76">
            <a:extLst>
              <a:ext uri="{FF2B5EF4-FFF2-40B4-BE49-F238E27FC236}">
                <a16:creationId xmlns:a16="http://schemas.microsoft.com/office/drawing/2014/main" id="{2E11D107-6BDC-7A2F-583A-9907921BBB38}"/>
              </a:ext>
            </a:extLst>
          </p:cNvPr>
          <p:cNvSpPr txBox="1"/>
          <p:nvPr/>
        </p:nvSpPr>
        <p:spPr>
          <a:xfrm>
            <a:off x="4647895" y="8434426"/>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cs typeface="Calibri" pitchFamily="34" charset="-120"/>
              </a:rPr>
              <a:t>C</a:t>
            </a:r>
            <a:endParaRPr lang="en-US" sz="1900" dirty="0"/>
          </a:p>
        </p:txBody>
      </p:sp>
      <p:sp>
        <p:nvSpPr>
          <p:cNvPr id="101" name="Text 76">
            <a:extLst>
              <a:ext uri="{FF2B5EF4-FFF2-40B4-BE49-F238E27FC236}">
                <a16:creationId xmlns:a16="http://schemas.microsoft.com/office/drawing/2014/main" id="{D6080DBD-9BC8-3F21-63C5-0617B5A35F6F}"/>
              </a:ext>
            </a:extLst>
          </p:cNvPr>
          <p:cNvSpPr txBox="1"/>
          <p:nvPr/>
        </p:nvSpPr>
        <p:spPr>
          <a:xfrm>
            <a:off x="6756705" y="8434426"/>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cs typeface="Calibri" pitchFamily="34" charset="-120"/>
              </a:rPr>
              <a:t>C</a:t>
            </a:r>
            <a:endParaRPr lang="en-US" sz="1900" dirty="0"/>
          </a:p>
        </p:txBody>
      </p:sp>
      <p:sp>
        <p:nvSpPr>
          <p:cNvPr id="102" name="Text 76">
            <a:extLst>
              <a:ext uri="{FF2B5EF4-FFF2-40B4-BE49-F238E27FC236}">
                <a16:creationId xmlns:a16="http://schemas.microsoft.com/office/drawing/2014/main" id="{F5FA1D45-CB4C-B9AD-96DD-2FB78D8AA533}"/>
              </a:ext>
            </a:extLst>
          </p:cNvPr>
          <p:cNvSpPr txBox="1"/>
          <p:nvPr/>
        </p:nvSpPr>
        <p:spPr>
          <a:xfrm>
            <a:off x="8839505" y="8438997"/>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cs typeface="Calibri" pitchFamily="34" charset="-120"/>
              </a:rPr>
              <a:t>P</a:t>
            </a:r>
            <a:endParaRPr lang="en-US" sz="1900" dirty="0"/>
          </a:p>
        </p:txBody>
      </p:sp>
      <p:sp>
        <p:nvSpPr>
          <p:cNvPr id="103" name="Text 76">
            <a:extLst>
              <a:ext uri="{FF2B5EF4-FFF2-40B4-BE49-F238E27FC236}">
                <a16:creationId xmlns:a16="http://schemas.microsoft.com/office/drawing/2014/main" id="{29A81071-6946-9EFD-41AF-B41E3FCE2408}"/>
              </a:ext>
            </a:extLst>
          </p:cNvPr>
          <p:cNvSpPr txBox="1"/>
          <p:nvPr/>
        </p:nvSpPr>
        <p:spPr>
          <a:xfrm>
            <a:off x="10934395" y="8434426"/>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cs typeface="Calibri" pitchFamily="34" charset="-120"/>
              </a:rPr>
              <a:t>P</a:t>
            </a:r>
            <a:endParaRPr lang="en-US" sz="1900" dirty="0"/>
          </a:p>
        </p:txBody>
      </p:sp>
      <p:sp>
        <p:nvSpPr>
          <p:cNvPr id="104" name="Text 76">
            <a:extLst>
              <a:ext uri="{FF2B5EF4-FFF2-40B4-BE49-F238E27FC236}">
                <a16:creationId xmlns:a16="http://schemas.microsoft.com/office/drawing/2014/main" id="{4056E92A-00BD-9D25-A3D9-EF964CC9C6FB}"/>
              </a:ext>
            </a:extLst>
          </p:cNvPr>
          <p:cNvSpPr txBox="1"/>
          <p:nvPr/>
        </p:nvSpPr>
        <p:spPr>
          <a:xfrm>
            <a:off x="13030200" y="8438997"/>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cs typeface="Calibri" pitchFamily="34" charset="-120"/>
              </a:rPr>
              <a:t>P</a:t>
            </a:r>
            <a:endParaRPr lang="en-US" sz="1900" dirty="0"/>
          </a:p>
        </p:txBody>
      </p:sp>
      <p:sp>
        <p:nvSpPr>
          <p:cNvPr id="105" name="Text 76">
            <a:extLst>
              <a:ext uri="{FF2B5EF4-FFF2-40B4-BE49-F238E27FC236}">
                <a16:creationId xmlns:a16="http://schemas.microsoft.com/office/drawing/2014/main" id="{CB2B0386-0F60-3976-7457-D0E75270C5CA}"/>
              </a:ext>
            </a:extLst>
          </p:cNvPr>
          <p:cNvSpPr txBox="1"/>
          <p:nvPr/>
        </p:nvSpPr>
        <p:spPr>
          <a:xfrm>
            <a:off x="15125090" y="8438997"/>
            <a:ext cx="2019910" cy="314554"/>
          </a:xfrm>
          <a:prstGeom prst="rect">
            <a:avLst/>
          </a:prstGeom>
          <a:noFill/>
          <a:ln/>
        </p:spPr>
        <p:txBody>
          <a:bodyPr wrap="square" lIns="0" tIns="0" rIns="0" bIns="0" rtlCol="0" anchor="ctr"/>
          <a:lstStyle/>
          <a:p>
            <a:pPr marL="0" indent="0" algn="ctr">
              <a:buNone/>
            </a:pPr>
            <a:r>
              <a:rPr lang="en-US" sz="1900" b="1" kern="0" spc="75" dirty="0">
                <a:solidFill>
                  <a:srgbClr val="2E2D29"/>
                </a:solidFill>
                <a:latin typeface="Calibri" pitchFamily="34" charset="0"/>
                <a:cs typeface="Calibri" pitchFamily="34" charset="-120"/>
              </a:rPr>
              <a:t>C</a:t>
            </a:r>
            <a:endParaRPr lang="en-US" sz="1900" dirty="0"/>
          </a:p>
        </p:txBody>
      </p:sp>
      <p:sp>
        <p:nvSpPr>
          <p:cNvPr id="106" name="Text 5">
            <a:extLst>
              <a:ext uri="{FF2B5EF4-FFF2-40B4-BE49-F238E27FC236}">
                <a16:creationId xmlns:a16="http://schemas.microsoft.com/office/drawing/2014/main" id="{E0937AE2-F0BD-A584-C910-446A2CA62F8C}"/>
              </a:ext>
            </a:extLst>
          </p:cNvPr>
          <p:cNvSpPr txBox="1"/>
          <p:nvPr/>
        </p:nvSpPr>
        <p:spPr>
          <a:xfrm>
            <a:off x="4572000" y="3245714"/>
            <a:ext cx="2019910" cy="219456"/>
          </a:xfrm>
          <a:prstGeom prst="rect">
            <a:avLst/>
          </a:prstGeom>
          <a:noFill/>
          <a:ln/>
        </p:spPr>
        <p:txBody>
          <a:bodyPr wrap="square" lIns="0" tIns="0" rIns="0" bIns="0" rtlCol="0" anchor="ctr"/>
          <a:lstStyle/>
          <a:p>
            <a:pPr marL="0" indent="0" algn="ctr">
              <a:buNone/>
            </a:pPr>
            <a:r>
              <a:rPr lang="en-US" sz="1300" kern="0" spc="150" dirty="0">
                <a:solidFill>
                  <a:srgbClr val="6B6A65"/>
                </a:solidFill>
                <a:latin typeface="Calibri" pitchFamily="34" charset="0"/>
                <a:ea typeface="Calibri" pitchFamily="34" charset="-122"/>
                <a:cs typeface="Calibri" pitchFamily="34" charset="-120"/>
              </a:rPr>
              <a:t>Do the items span the construct?</a:t>
            </a:r>
            <a:endParaRPr lang="en-US" sz="1300" dirty="0"/>
          </a:p>
        </p:txBody>
      </p:sp>
      <p:sp>
        <p:nvSpPr>
          <p:cNvPr id="107" name="Text 5">
            <a:extLst>
              <a:ext uri="{FF2B5EF4-FFF2-40B4-BE49-F238E27FC236}">
                <a16:creationId xmlns:a16="http://schemas.microsoft.com/office/drawing/2014/main" id="{69E8F7FB-B8BF-B806-F1DB-B17366541271}"/>
              </a:ext>
            </a:extLst>
          </p:cNvPr>
          <p:cNvSpPr txBox="1"/>
          <p:nvPr/>
        </p:nvSpPr>
        <p:spPr>
          <a:xfrm>
            <a:off x="6603390" y="3190798"/>
            <a:ext cx="2273910" cy="267462"/>
          </a:xfrm>
          <a:prstGeom prst="rect">
            <a:avLst/>
          </a:prstGeom>
          <a:noFill/>
          <a:ln/>
        </p:spPr>
        <p:txBody>
          <a:bodyPr wrap="square" lIns="0" tIns="0" rIns="0" bIns="0" rtlCol="0" anchor="ctr"/>
          <a:lstStyle/>
          <a:p>
            <a:pPr algn="ctr"/>
            <a:r>
              <a:rPr lang="en-US" sz="1300" kern="0" spc="150" dirty="0">
                <a:solidFill>
                  <a:srgbClr val="6B6A65"/>
                </a:solidFill>
                <a:latin typeface="Calibri" pitchFamily="34" charset="0"/>
                <a:ea typeface="Calibri" pitchFamily="34" charset="-122"/>
                <a:cs typeface="Calibri" pitchFamily="34" charset="-120"/>
              </a:rPr>
              <a:t>Does the response match the theorized cognition?</a:t>
            </a:r>
            <a:endParaRPr lang="en-US" sz="1300" dirty="0"/>
          </a:p>
        </p:txBody>
      </p:sp>
      <p:sp>
        <p:nvSpPr>
          <p:cNvPr id="108" name="Text 5">
            <a:extLst>
              <a:ext uri="{FF2B5EF4-FFF2-40B4-BE49-F238E27FC236}">
                <a16:creationId xmlns:a16="http://schemas.microsoft.com/office/drawing/2014/main" id="{84163919-3959-B32D-F55E-6780946E8F1B}"/>
              </a:ext>
            </a:extLst>
          </p:cNvPr>
          <p:cNvSpPr txBox="1"/>
          <p:nvPr/>
        </p:nvSpPr>
        <p:spPr>
          <a:xfrm>
            <a:off x="8926880" y="3203677"/>
            <a:ext cx="2019910" cy="254583"/>
          </a:xfrm>
          <a:prstGeom prst="rect">
            <a:avLst/>
          </a:prstGeom>
          <a:noFill/>
          <a:ln/>
        </p:spPr>
        <p:txBody>
          <a:bodyPr wrap="square" lIns="0" tIns="0" rIns="0" bIns="0" rtlCol="0" anchor="ctr"/>
          <a:lstStyle/>
          <a:p>
            <a:pPr algn="ctr"/>
            <a:r>
              <a:rPr lang="en-US" sz="1300" kern="0" spc="150" dirty="0">
                <a:solidFill>
                  <a:srgbClr val="6B6A65"/>
                </a:solidFill>
                <a:latin typeface="Calibri" pitchFamily="34" charset="0"/>
                <a:ea typeface="Calibri" pitchFamily="34" charset="-122"/>
                <a:cs typeface="Calibri" pitchFamily="34" charset="-120"/>
              </a:rPr>
              <a:t>Is the score reliable and well-structured?</a:t>
            </a:r>
            <a:endParaRPr lang="en-US" sz="1300" dirty="0"/>
          </a:p>
        </p:txBody>
      </p:sp>
      <p:sp>
        <p:nvSpPr>
          <p:cNvPr id="109" name="Text 5">
            <a:extLst>
              <a:ext uri="{FF2B5EF4-FFF2-40B4-BE49-F238E27FC236}">
                <a16:creationId xmlns:a16="http://schemas.microsoft.com/office/drawing/2014/main" id="{D0CEACCE-6A44-E265-FD14-386B69767B68}"/>
              </a:ext>
            </a:extLst>
          </p:cNvPr>
          <p:cNvSpPr txBox="1"/>
          <p:nvPr/>
        </p:nvSpPr>
        <p:spPr>
          <a:xfrm>
            <a:off x="10933938" y="3215754"/>
            <a:ext cx="2019910" cy="254583"/>
          </a:xfrm>
          <a:prstGeom prst="rect">
            <a:avLst/>
          </a:prstGeom>
          <a:noFill/>
          <a:ln/>
        </p:spPr>
        <p:txBody>
          <a:bodyPr wrap="square" lIns="0" tIns="0" rIns="0" bIns="0" rtlCol="0" anchor="ctr"/>
          <a:lstStyle/>
          <a:p>
            <a:pPr algn="ctr"/>
            <a:r>
              <a:rPr lang="en-US" sz="1300" kern="0" spc="150" dirty="0">
                <a:solidFill>
                  <a:srgbClr val="6B6A65"/>
                </a:solidFill>
                <a:latin typeface="Calibri" pitchFamily="34" charset="0"/>
                <a:ea typeface="Calibri" pitchFamily="34" charset="-122"/>
                <a:cs typeface="Calibri" pitchFamily="34" charset="-120"/>
              </a:rPr>
              <a:t>Does the score travel across settings?</a:t>
            </a:r>
            <a:endParaRPr lang="en-US" sz="1300" dirty="0"/>
          </a:p>
        </p:txBody>
      </p:sp>
      <p:sp>
        <p:nvSpPr>
          <p:cNvPr id="110" name="Text 5">
            <a:extLst>
              <a:ext uri="{FF2B5EF4-FFF2-40B4-BE49-F238E27FC236}">
                <a16:creationId xmlns:a16="http://schemas.microsoft.com/office/drawing/2014/main" id="{2748C015-5FF1-E47F-CEAA-0A3EB8626409}"/>
              </a:ext>
            </a:extLst>
          </p:cNvPr>
          <p:cNvSpPr txBox="1"/>
          <p:nvPr/>
        </p:nvSpPr>
        <p:spPr>
          <a:xfrm>
            <a:off x="13029285" y="3203068"/>
            <a:ext cx="2019910" cy="254583"/>
          </a:xfrm>
          <a:prstGeom prst="rect">
            <a:avLst/>
          </a:prstGeom>
          <a:noFill/>
          <a:ln/>
        </p:spPr>
        <p:txBody>
          <a:bodyPr wrap="square" lIns="0" tIns="0" rIns="0" bIns="0" rtlCol="0" anchor="ctr"/>
          <a:lstStyle/>
          <a:p>
            <a:pPr algn="ctr"/>
            <a:r>
              <a:rPr lang="en-US" sz="1300" kern="0" spc="150" dirty="0">
                <a:solidFill>
                  <a:srgbClr val="6B6A65"/>
                </a:solidFill>
                <a:latin typeface="Calibri" pitchFamily="34" charset="0"/>
                <a:ea typeface="Calibri" pitchFamily="34" charset="-122"/>
                <a:cs typeface="Calibri" pitchFamily="34" charset="-120"/>
              </a:rPr>
              <a:t>Does it correlate as theory predicts?</a:t>
            </a:r>
            <a:endParaRPr lang="en-US" sz="1300" dirty="0"/>
          </a:p>
        </p:txBody>
      </p:sp>
      <p:sp>
        <p:nvSpPr>
          <p:cNvPr id="111" name="Text 5">
            <a:extLst>
              <a:ext uri="{FF2B5EF4-FFF2-40B4-BE49-F238E27FC236}">
                <a16:creationId xmlns:a16="http://schemas.microsoft.com/office/drawing/2014/main" id="{F86A712B-21B3-2BC8-18F5-58C9B83CCCB4}"/>
              </a:ext>
            </a:extLst>
          </p:cNvPr>
          <p:cNvSpPr txBox="1"/>
          <p:nvPr/>
        </p:nvSpPr>
        <p:spPr>
          <a:xfrm>
            <a:off x="15049195" y="3214942"/>
            <a:ext cx="2019910" cy="254583"/>
          </a:xfrm>
          <a:prstGeom prst="rect">
            <a:avLst/>
          </a:prstGeom>
          <a:noFill/>
          <a:ln/>
        </p:spPr>
        <p:txBody>
          <a:bodyPr wrap="square" lIns="0" tIns="0" rIns="0" bIns="0" rtlCol="0" anchor="ctr"/>
          <a:lstStyle/>
          <a:p>
            <a:pPr algn="ctr"/>
            <a:r>
              <a:rPr lang="en-US" sz="1300" kern="0" spc="150" dirty="0">
                <a:solidFill>
                  <a:srgbClr val="6B6A65"/>
                </a:solidFill>
                <a:latin typeface="Calibri" pitchFamily="34" charset="0"/>
                <a:ea typeface="Calibri" pitchFamily="34" charset="-122"/>
                <a:cs typeface="Calibri" pitchFamily="34" charset="-120"/>
              </a:rPr>
              <a:t>Is the test’s use justified?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4F4"/>
          </a:solidFill>
          <a:ln w="12700">
            <a:solidFill>
              <a:srgbClr val="FFFFFF">
                <a:alpha val="0"/>
              </a:srgbClr>
            </a:solidFill>
            <a:prstDash val="solid"/>
          </a:ln>
        </p:spPr>
        <p:txBody>
          <a:bodyPr/>
          <a:lstStyle/>
          <a:p>
            <a:endParaRPr/>
          </a:p>
        </p:txBody>
      </p:sp>
      <p:pic>
        <p:nvPicPr>
          <p:cNvPr id="3" name="Image 0" descr="gen-dedup-b88fe25b682e026cc55145c419e90482.png"/>
          <p:cNvPicPr>
            <a:picLocks noChangeAspect="1"/>
          </p:cNvPicPr>
          <p:nvPr/>
        </p:nvPicPr>
        <p:blipFill>
          <a:blip r:embed="rId3"/>
          <a:srcRect l="-404" r="-404"/>
          <a:stretch/>
        </p:blipFill>
        <p:spPr>
          <a:xfrm>
            <a:off x="1143000" y="2286000"/>
            <a:ext cx="1143000" cy="28346"/>
          </a:xfrm>
          <a:prstGeom prst="rect">
            <a:avLst/>
          </a:prstGeom>
        </p:spPr>
      </p:pic>
      <p:pic>
        <p:nvPicPr>
          <p:cNvPr id="4" name="Image 1" descr="gen-dedup-f0d0091ecdcf3bb5101fa7f11fa0bdde.png"/>
          <p:cNvPicPr>
            <a:picLocks noChangeAspect="1"/>
          </p:cNvPicPr>
          <p:nvPr/>
        </p:nvPicPr>
        <p:blipFill>
          <a:blip r:embed="rId4"/>
          <a:srcRect t="-2083" b="-2083"/>
          <a:stretch/>
        </p:blipFill>
        <p:spPr>
          <a:xfrm>
            <a:off x="8229600" y="2819095"/>
            <a:ext cx="9144" cy="6286500"/>
          </a:xfrm>
          <a:prstGeom prst="rect">
            <a:avLst/>
          </a:prstGeom>
        </p:spPr>
      </p:pic>
      <p:pic>
        <p:nvPicPr>
          <p:cNvPr id="5" name="Image 2" descr="gen-dedup-49dc1a38270da29ac6533e61bb512995.png"/>
          <p:cNvPicPr>
            <a:picLocks noChangeAspect="1"/>
          </p:cNvPicPr>
          <p:nvPr/>
        </p:nvPicPr>
        <p:blipFill>
          <a:blip r:embed="rId5"/>
          <a:srcRect t="-400" b="-400"/>
          <a:stretch/>
        </p:blipFill>
        <p:spPr>
          <a:xfrm>
            <a:off x="8686800" y="3429000"/>
            <a:ext cx="8458200" cy="19202"/>
          </a:xfrm>
          <a:prstGeom prst="rect">
            <a:avLst/>
          </a:prstGeom>
        </p:spPr>
      </p:pic>
      <p:pic>
        <p:nvPicPr>
          <p:cNvPr id="6" name="Image 3" descr="gen-dedup-44e7d5f0f4de3435dde95c1e54e83b74.png"/>
          <p:cNvPicPr>
            <a:picLocks noChangeAspect="1"/>
          </p:cNvPicPr>
          <p:nvPr/>
        </p:nvPicPr>
        <p:blipFill>
          <a:blip r:embed="rId6"/>
          <a:srcRect l="-2083" r="-2083"/>
          <a:stretch/>
        </p:blipFill>
        <p:spPr>
          <a:xfrm>
            <a:off x="8686800" y="4000500"/>
            <a:ext cx="8458200" cy="9144"/>
          </a:xfrm>
          <a:prstGeom prst="rect">
            <a:avLst/>
          </a:prstGeom>
        </p:spPr>
      </p:pic>
      <p:pic>
        <p:nvPicPr>
          <p:cNvPr id="7" name="Image 4" descr="gen-dedup-de8dad5f3978ec8ff57fe56437dd141c.png"/>
          <p:cNvPicPr>
            <a:picLocks noChangeAspect="1"/>
          </p:cNvPicPr>
          <p:nvPr/>
        </p:nvPicPr>
        <p:blipFill>
          <a:blip r:embed="rId7"/>
          <a:srcRect l="-2083" r="-2083"/>
          <a:stretch/>
        </p:blipFill>
        <p:spPr>
          <a:xfrm>
            <a:off x="8686800" y="5029200"/>
            <a:ext cx="8458200" cy="9144"/>
          </a:xfrm>
          <a:prstGeom prst="rect">
            <a:avLst/>
          </a:prstGeom>
        </p:spPr>
      </p:pic>
      <p:pic>
        <p:nvPicPr>
          <p:cNvPr id="8" name="Image 5" descr="gen-dedup-49dc1a38270da29ac6533e61bb512995.png"/>
          <p:cNvPicPr>
            <a:picLocks noChangeAspect="1"/>
          </p:cNvPicPr>
          <p:nvPr/>
        </p:nvPicPr>
        <p:blipFill>
          <a:blip r:embed="rId5"/>
          <a:srcRect t="-400" b="-400"/>
          <a:stretch/>
        </p:blipFill>
        <p:spPr>
          <a:xfrm>
            <a:off x="8686800" y="6057900"/>
            <a:ext cx="8458200" cy="19202"/>
          </a:xfrm>
          <a:prstGeom prst="rect">
            <a:avLst/>
          </a:prstGeom>
        </p:spPr>
      </p:pic>
      <p:sp>
        <p:nvSpPr>
          <p:cNvPr id="9" name="Text 1"/>
          <p:cNvSpPr txBox="1"/>
          <p:nvPr/>
        </p:nvSpPr>
        <p:spPr>
          <a:xfrm>
            <a:off x="16763695" y="609905"/>
            <a:ext cx="914400" cy="219456"/>
          </a:xfrm>
          <a:prstGeom prst="rect">
            <a:avLst/>
          </a:prstGeom>
          <a:noFill/>
          <a:ln/>
        </p:spPr>
        <p:txBody>
          <a:bodyPr wrap="square" lIns="0" tIns="0" rIns="0" bIns="0" rtlCol="0" anchor="ctr"/>
          <a:lstStyle/>
          <a:p>
            <a:pPr marL="0" indent="0" algn="r">
              <a:buNone/>
            </a:pPr>
            <a:r>
              <a:rPr lang="en-US" sz="1300" kern="0" spc="225" dirty="0">
                <a:solidFill>
                  <a:srgbClr val="9A9893"/>
                </a:solidFill>
                <a:latin typeface="Calibri" pitchFamily="34" charset="0"/>
                <a:ea typeface="Calibri" pitchFamily="34" charset="-122"/>
                <a:cs typeface="Calibri" pitchFamily="34" charset="-120"/>
              </a:rPr>
              <a:t>05 / 06</a:t>
            </a:r>
            <a:endParaRPr lang="en-US" sz="1300" dirty="0"/>
          </a:p>
        </p:txBody>
      </p:sp>
      <p:sp>
        <p:nvSpPr>
          <p:cNvPr id="10" name="Text 2"/>
          <p:cNvSpPr txBox="1"/>
          <p:nvPr/>
        </p:nvSpPr>
        <p:spPr>
          <a:xfrm>
            <a:off x="1143000" y="914400"/>
            <a:ext cx="15240305" cy="228600"/>
          </a:xfrm>
          <a:prstGeom prst="rect">
            <a:avLst/>
          </a:prstGeom>
          <a:noFill/>
          <a:ln/>
        </p:spPr>
        <p:txBody>
          <a:bodyPr wrap="square" lIns="0" tIns="0" rIns="0" bIns="0" rtlCol="0" anchor="ctr"/>
          <a:lstStyle/>
          <a:p>
            <a:pPr marL="0" indent="0" algn="l">
              <a:buNone/>
            </a:pPr>
            <a:r>
              <a:rPr lang="en-US" sz="1500" kern="0" spc="375" dirty="0">
                <a:solidFill>
                  <a:srgbClr val="8C1515"/>
                </a:solidFill>
                <a:latin typeface="Calibri" pitchFamily="34" charset="0"/>
                <a:ea typeface="Calibri" pitchFamily="34" charset="-122"/>
                <a:cs typeface="Calibri" pitchFamily="34" charset="-120"/>
              </a:rPr>
              <a:t>HIUA-Bench</a:t>
            </a:r>
            <a:endParaRPr lang="en-US" sz="1500" dirty="0"/>
          </a:p>
        </p:txBody>
      </p:sp>
      <p:sp>
        <p:nvSpPr>
          <p:cNvPr id="11" name="Text 3"/>
          <p:cNvSpPr txBox="1"/>
          <p:nvPr/>
        </p:nvSpPr>
        <p:spPr>
          <a:xfrm>
            <a:off x="1143000" y="1410005"/>
            <a:ext cx="16375990" cy="543154"/>
          </a:xfrm>
          <a:prstGeom prst="rect">
            <a:avLst/>
          </a:prstGeom>
          <a:noFill/>
          <a:ln/>
        </p:spPr>
        <p:txBody>
          <a:bodyPr wrap="square" lIns="0" tIns="0" rIns="0" bIns="0" rtlCol="0" anchor="ctr"/>
          <a:lstStyle/>
          <a:p>
            <a:pPr marL="0" indent="0" algn="l">
              <a:buNone/>
            </a:pPr>
            <a:r>
              <a:rPr lang="en-US" sz="3600" dirty="0">
                <a:solidFill>
                  <a:srgbClr val="2E2D29"/>
                </a:solidFill>
                <a:latin typeface="Georgia" pitchFamily="34" charset="0"/>
                <a:ea typeface="Georgia" pitchFamily="34" charset="-122"/>
                <a:cs typeface="Georgia" pitchFamily="34" charset="-120"/>
              </a:rPr>
              <a:t>A 3 × 3 × 4 factorial design with a recall-probe partition.</a:t>
            </a:r>
            <a:endParaRPr lang="en-US" sz="3600" dirty="0"/>
          </a:p>
        </p:txBody>
      </p:sp>
      <p:sp>
        <p:nvSpPr>
          <p:cNvPr id="12" name="Text 4"/>
          <p:cNvSpPr txBox="1"/>
          <p:nvPr/>
        </p:nvSpPr>
        <p:spPr>
          <a:xfrm>
            <a:off x="1143000" y="2819095"/>
            <a:ext cx="6477610" cy="228600"/>
          </a:xfrm>
          <a:prstGeom prst="rect">
            <a:avLst/>
          </a:prstGeom>
          <a:noFill/>
          <a:ln/>
        </p:spPr>
        <p:txBody>
          <a:bodyPr wrap="square" lIns="0" tIns="0" rIns="0" bIns="0" rtlCol="0" anchor="ctr"/>
          <a:lstStyle/>
          <a:p>
            <a:pPr marL="0" indent="0" algn="l">
              <a:buNone/>
            </a:pPr>
            <a:r>
              <a:rPr lang="en-US" sz="1500" kern="0" spc="300" dirty="0">
                <a:solidFill>
                  <a:srgbClr val="6B6A65"/>
                </a:solidFill>
                <a:latin typeface="Calibri" pitchFamily="34" charset="0"/>
                <a:ea typeface="Calibri" pitchFamily="34" charset="-122"/>
                <a:cs typeface="Calibri" pitchFamily="34" charset="-120"/>
              </a:rPr>
              <a:t>Design</a:t>
            </a:r>
            <a:endParaRPr lang="en-US" sz="1500" dirty="0"/>
          </a:p>
        </p:txBody>
      </p:sp>
      <p:sp>
        <p:nvSpPr>
          <p:cNvPr id="13" name="Text 5"/>
          <p:cNvSpPr txBox="1"/>
          <p:nvPr/>
        </p:nvSpPr>
        <p:spPr>
          <a:xfrm>
            <a:off x="1143000" y="3276295"/>
            <a:ext cx="7163410" cy="428854"/>
          </a:xfrm>
          <a:prstGeom prst="rect">
            <a:avLst/>
          </a:prstGeom>
          <a:noFill/>
          <a:ln/>
        </p:spPr>
        <p:txBody>
          <a:bodyPr wrap="square" lIns="0" tIns="0" rIns="0" bIns="0" rtlCol="0" anchor="ctr"/>
          <a:lstStyle/>
          <a:p>
            <a:pPr marL="0" indent="0" algn="l">
              <a:buNone/>
            </a:pPr>
            <a:r>
              <a:rPr lang="en-US" sz="2200" dirty="0">
                <a:solidFill>
                  <a:srgbClr val="2E2D29"/>
                </a:solidFill>
                <a:latin typeface="Georgia" pitchFamily="34" charset="0"/>
                <a:ea typeface="Georgia" pitchFamily="34" charset="-122"/>
                <a:cs typeface="Georgia" pitchFamily="34" charset="-120"/>
              </a:rPr>
              <a:t>3 sub-types × 3 salience levels × 4 domains</a:t>
            </a:r>
            <a:endParaRPr lang="en-US" sz="2200" dirty="0"/>
          </a:p>
        </p:txBody>
      </p:sp>
      <p:sp>
        <p:nvSpPr>
          <p:cNvPr id="14" name="Text 6"/>
          <p:cNvSpPr txBox="1"/>
          <p:nvPr/>
        </p:nvSpPr>
        <p:spPr>
          <a:xfrm>
            <a:off x="1143000" y="3781044"/>
            <a:ext cx="7163410" cy="314554"/>
          </a:xfrm>
          <a:prstGeom prst="rect">
            <a:avLst/>
          </a:prstGeom>
          <a:noFill/>
          <a:ln/>
        </p:spPr>
        <p:txBody>
          <a:bodyPr wrap="square" lIns="0" tIns="0" rIns="0" bIns="0" rtlCol="0" anchor="ctr"/>
          <a:lstStyle/>
          <a:p>
            <a:pPr marL="0" indent="0" algn="l">
              <a:buNone/>
            </a:pPr>
            <a:r>
              <a:rPr lang="en-US" sz="1600" dirty="0">
                <a:solidFill>
                  <a:srgbClr val="6B6A65"/>
                </a:solidFill>
                <a:latin typeface="Calibri" pitchFamily="34" charset="0"/>
                <a:ea typeface="Calibri" pitchFamily="34" charset="-122"/>
                <a:cs typeface="Calibri" pitchFamily="34" charset="-120"/>
              </a:rPr>
              <a:t>36 base items · 4 paraphrases × 3 seeds ⇒ 432 trials per model</a:t>
            </a:r>
            <a:endParaRPr lang="en-US" sz="1600" dirty="0"/>
          </a:p>
        </p:txBody>
      </p:sp>
      <p:pic>
        <p:nvPicPr>
          <p:cNvPr id="15" name="Image 6" descr="gen-dedup-d5ccaf980a8b9f129b39a882e84752e6.png"/>
          <p:cNvPicPr>
            <a:picLocks noChangeAspect="1"/>
          </p:cNvPicPr>
          <p:nvPr/>
        </p:nvPicPr>
        <p:blipFill>
          <a:blip r:embed="rId8"/>
          <a:srcRect l="-2083" r="-2083"/>
          <a:stretch/>
        </p:blipFill>
        <p:spPr>
          <a:xfrm>
            <a:off x="1143000" y="4324198"/>
            <a:ext cx="6476695" cy="9144"/>
          </a:xfrm>
          <a:prstGeom prst="rect">
            <a:avLst/>
          </a:prstGeom>
        </p:spPr>
      </p:pic>
      <p:sp>
        <p:nvSpPr>
          <p:cNvPr id="16" name="Text 7"/>
          <p:cNvSpPr txBox="1"/>
          <p:nvPr/>
        </p:nvSpPr>
        <p:spPr>
          <a:xfrm>
            <a:off x="1143000" y="4562856"/>
            <a:ext cx="6477610" cy="342900"/>
          </a:xfrm>
          <a:prstGeom prst="rect">
            <a:avLst/>
          </a:prstGeom>
          <a:noFill/>
          <a:ln/>
        </p:spPr>
        <p:txBody>
          <a:bodyPr wrap="square" lIns="0" tIns="0" rIns="0" bIns="0" rtlCol="0" anchor="ctr"/>
          <a:lstStyle/>
          <a:p>
            <a:pPr marL="0" indent="0" algn="l">
              <a:buNone/>
            </a:pPr>
            <a:r>
              <a:rPr lang="en-US" sz="1800" dirty="0">
                <a:solidFill>
                  <a:srgbClr val="8C1515"/>
                </a:solidFill>
                <a:latin typeface="Georgia" pitchFamily="34" charset="0"/>
                <a:ea typeface="Georgia" pitchFamily="34" charset="-122"/>
                <a:cs typeface="Georgia" pitchFamily="34" charset="-120"/>
              </a:rPr>
              <a:t>Three measurements per trial</a:t>
            </a:r>
            <a:endParaRPr lang="en-US" sz="1800" dirty="0"/>
          </a:p>
        </p:txBody>
      </p:sp>
      <p:sp>
        <p:nvSpPr>
          <p:cNvPr id="17" name="Text 8"/>
          <p:cNvSpPr txBox="1"/>
          <p:nvPr/>
        </p:nvSpPr>
        <p:spPr>
          <a:xfrm>
            <a:off x="1143000" y="4962449"/>
            <a:ext cx="6477610" cy="342900"/>
          </a:xfrm>
          <a:prstGeom prst="rect">
            <a:avLst/>
          </a:prstGeom>
          <a:noFill/>
          <a:ln/>
        </p:spPr>
        <p:txBody>
          <a:bodyPr wrap="square" lIns="0" tIns="0" rIns="0" bIns="0" rtlCol="0" anchor="ctr"/>
          <a:lstStyle/>
          <a:p>
            <a:pPr marL="0" indent="0" algn="l">
              <a:buNone/>
            </a:pPr>
            <a:r>
              <a:rPr lang="en-US" sz="1800" b="1" dirty="0">
                <a:solidFill>
                  <a:srgbClr val="2E2D29"/>
                </a:solidFill>
                <a:latin typeface="Calibri" pitchFamily="34" charset="0"/>
                <a:ea typeface="Calibri" pitchFamily="34" charset="-122"/>
                <a:cs typeface="Calibri" pitchFamily="34" charset="-120"/>
              </a:rPr>
              <a:t>Outcome</a:t>
            </a:r>
            <a:r>
              <a:rPr lang="en-US" sz="1800" dirty="0">
                <a:solidFill>
                  <a:srgbClr val="2E2D29"/>
                </a:solidFill>
                <a:latin typeface="Calibri" pitchFamily="34" charset="0"/>
                <a:ea typeface="Calibri" pitchFamily="34" charset="-122"/>
                <a:cs typeface="Calibri" pitchFamily="34" charset="-120"/>
              </a:rPr>
              <a:t> — simulator-verified</a:t>
            </a:r>
            <a:endParaRPr lang="en-US" sz="1800" dirty="0"/>
          </a:p>
        </p:txBody>
      </p:sp>
      <p:sp>
        <p:nvSpPr>
          <p:cNvPr id="18" name="Text 9"/>
          <p:cNvSpPr txBox="1"/>
          <p:nvPr/>
        </p:nvSpPr>
        <p:spPr>
          <a:xfrm>
            <a:off x="1143000" y="5305349"/>
            <a:ext cx="7163410" cy="342900"/>
          </a:xfrm>
          <a:prstGeom prst="rect">
            <a:avLst/>
          </a:prstGeom>
          <a:noFill/>
          <a:ln/>
        </p:spPr>
        <p:txBody>
          <a:bodyPr wrap="square" lIns="0" tIns="0" rIns="0" bIns="0" rtlCol="0" anchor="ctr"/>
          <a:lstStyle/>
          <a:p>
            <a:pPr marL="0" indent="0" algn="l">
              <a:buNone/>
            </a:pPr>
            <a:r>
              <a:rPr lang="en-US" sz="1800" b="1" dirty="0">
                <a:solidFill>
                  <a:srgbClr val="2E2D29"/>
                </a:solidFill>
                <a:latin typeface="Calibri" pitchFamily="34" charset="0"/>
                <a:ea typeface="Calibri" pitchFamily="34" charset="-122"/>
                <a:cs typeface="Calibri" pitchFamily="34" charset="-120"/>
              </a:rPr>
              <a:t>Hallucination</a:t>
            </a:r>
            <a:r>
              <a:rPr lang="en-US" sz="1800" dirty="0">
                <a:solidFill>
                  <a:srgbClr val="2E2D29"/>
                </a:solidFill>
                <a:latin typeface="Calibri" pitchFamily="34" charset="0"/>
                <a:ea typeface="Calibri" pitchFamily="34" charset="-122"/>
                <a:cs typeface="Calibri" pitchFamily="34" charset="-120"/>
              </a:rPr>
              <a:t> — 3-judge ensemble on chain-of-thought</a:t>
            </a:r>
            <a:endParaRPr lang="en-US" sz="1800" dirty="0"/>
          </a:p>
        </p:txBody>
      </p:sp>
      <p:sp>
        <p:nvSpPr>
          <p:cNvPr id="19" name="Text 10"/>
          <p:cNvSpPr txBox="1"/>
          <p:nvPr/>
        </p:nvSpPr>
        <p:spPr>
          <a:xfrm>
            <a:off x="1143000" y="5648249"/>
            <a:ext cx="6477610" cy="342900"/>
          </a:xfrm>
          <a:prstGeom prst="rect">
            <a:avLst/>
          </a:prstGeom>
          <a:noFill/>
          <a:ln/>
        </p:spPr>
        <p:txBody>
          <a:bodyPr wrap="square" lIns="0" tIns="0" rIns="0" bIns="0" rtlCol="0" anchor="ctr"/>
          <a:lstStyle/>
          <a:p>
            <a:pPr marL="0" indent="0" algn="l">
              <a:buNone/>
            </a:pPr>
            <a:r>
              <a:rPr lang="en-US" sz="1800" b="1" dirty="0">
                <a:solidFill>
                  <a:srgbClr val="2E2D29"/>
                </a:solidFill>
                <a:latin typeface="Calibri" pitchFamily="34" charset="0"/>
                <a:ea typeface="Calibri" pitchFamily="34" charset="-122"/>
                <a:cs typeface="Calibri" pitchFamily="34" charset="-120"/>
              </a:rPr>
              <a:t>Recall</a:t>
            </a:r>
            <a:r>
              <a:rPr lang="en-US" sz="1800" dirty="0">
                <a:solidFill>
                  <a:srgbClr val="2E2D29"/>
                </a:solidFill>
                <a:latin typeface="Calibri" pitchFamily="34" charset="0"/>
                <a:ea typeface="Calibri" pitchFamily="34" charset="-122"/>
                <a:cs typeface="Calibri" pitchFamily="34" charset="-120"/>
              </a:rPr>
              <a:t> — probe in a fresh context</a:t>
            </a:r>
            <a:endParaRPr lang="en-US" sz="1800" dirty="0"/>
          </a:p>
        </p:txBody>
      </p:sp>
      <p:pic>
        <p:nvPicPr>
          <p:cNvPr id="20" name="Image 7" descr="gen-dedup-d5ccaf980a8b9f129b39a882e84752e6.png"/>
          <p:cNvPicPr>
            <a:picLocks noChangeAspect="1"/>
          </p:cNvPicPr>
          <p:nvPr/>
        </p:nvPicPr>
        <p:blipFill>
          <a:blip r:embed="rId8"/>
          <a:srcRect l="-2083" r="-2083"/>
          <a:stretch/>
        </p:blipFill>
        <p:spPr>
          <a:xfrm>
            <a:off x="1143000" y="6219749"/>
            <a:ext cx="6476695" cy="9144"/>
          </a:xfrm>
          <a:prstGeom prst="rect">
            <a:avLst/>
          </a:prstGeom>
        </p:spPr>
      </p:pic>
      <p:sp>
        <p:nvSpPr>
          <p:cNvPr id="21" name="Text 11"/>
          <p:cNvSpPr txBox="1"/>
          <p:nvPr/>
        </p:nvSpPr>
        <p:spPr>
          <a:xfrm>
            <a:off x="1143000" y="6458407"/>
            <a:ext cx="6477610" cy="342900"/>
          </a:xfrm>
          <a:prstGeom prst="rect">
            <a:avLst/>
          </a:prstGeom>
          <a:noFill/>
          <a:ln/>
        </p:spPr>
        <p:txBody>
          <a:bodyPr wrap="square" lIns="0" tIns="0" rIns="0" bIns="0" rtlCol="0" anchor="ctr"/>
          <a:lstStyle/>
          <a:p>
            <a:pPr marL="0" indent="0" algn="l">
              <a:buNone/>
            </a:pPr>
            <a:r>
              <a:rPr lang="en-US" sz="1800" dirty="0">
                <a:solidFill>
                  <a:srgbClr val="8C1515"/>
                </a:solidFill>
                <a:latin typeface="Georgia" pitchFamily="34" charset="0"/>
                <a:ea typeface="Georgia" pitchFamily="34" charset="-122"/>
                <a:cs typeface="Georgia" pitchFamily="34" charset="-120"/>
              </a:rPr>
              <a:t>Generalizability Theory</a:t>
            </a:r>
            <a:endParaRPr lang="en-US" sz="1800" dirty="0"/>
          </a:p>
        </p:txBody>
      </p:sp>
      <p:sp>
        <p:nvSpPr>
          <p:cNvPr id="22" name="Text 12"/>
          <p:cNvSpPr txBox="1"/>
          <p:nvPr/>
        </p:nvSpPr>
        <p:spPr>
          <a:xfrm>
            <a:off x="1143000" y="6858000"/>
            <a:ext cx="7163410" cy="391363"/>
          </a:xfrm>
          <a:prstGeom prst="rect">
            <a:avLst/>
          </a:prstGeom>
          <a:noFill/>
          <a:ln/>
        </p:spPr>
        <p:txBody>
          <a:bodyPr wrap="square" lIns="0" tIns="0" rIns="0" bIns="0" rtlCol="0" anchor="ctr"/>
          <a:lstStyle/>
          <a:p>
            <a:pPr marL="0" indent="0" algn="l">
              <a:buNone/>
            </a:pPr>
            <a:r>
              <a:rPr lang="en-US" sz="1800" dirty="0">
                <a:solidFill>
                  <a:srgbClr val="2E2D29"/>
                </a:solidFill>
                <a:latin typeface="Calibri" pitchFamily="34" charset="0"/>
                <a:ea typeface="Calibri" pitchFamily="34" charset="-122"/>
                <a:cs typeface="Calibri" pitchFamily="34" charset="-120"/>
              </a:rPr>
              <a:t>Report Φ and Eρ</a:t>
            </a:r>
            <a:r>
              <a:rPr lang="en-US" sz="1500" dirty="0">
                <a:solidFill>
                  <a:srgbClr val="2E2D29"/>
                </a:solidFill>
                <a:latin typeface="Calibri" pitchFamily="34" charset="0"/>
                <a:ea typeface="Calibri" pitchFamily="34" charset="-122"/>
                <a:cs typeface="Calibri" pitchFamily="34" charset="-120"/>
              </a:rPr>
              <a:t>²</a:t>
            </a:r>
            <a:r>
              <a:rPr lang="en-US" sz="1800" dirty="0">
                <a:solidFill>
                  <a:srgbClr val="2E2D29"/>
                </a:solidFill>
                <a:latin typeface="Calibri" pitchFamily="34" charset="0"/>
                <a:ea typeface="Calibri" pitchFamily="34" charset="-122"/>
                <a:cs typeface="Calibri" pitchFamily="34" charset="-120"/>
              </a:rPr>
              <a:t> across persons × items × raters × occasions.</a:t>
            </a:r>
            <a:endParaRPr lang="en-US" sz="1800" dirty="0"/>
          </a:p>
        </p:txBody>
      </p:sp>
      <p:sp>
        <p:nvSpPr>
          <p:cNvPr id="23" name="Text 13"/>
          <p:cNvSpPr txBox="1"/>
          <p:nvPr/>
        </p:nvSpPr>
        <p:spPr>
          <a:xfrm>
            <a:off x="8686800" y="2819095"/>
            <a:ext cx="8458200" cy="228600"/>
          </a:xfrm>
          <a:prstGeom prst="rect">
            <a:avLst/>
          </a:prstGeom>
          <a:noFill/>
          <a:ln/>
        </p:spPr>
        <p:txBody>
          <a:bodyPr wrap="square" lIns="0" tIns="0" rIns="0" bIns="0" rtlCol="0" anchor="ctr"/>
          <a:lstStyle/>
          <a:p>
            <a:pPr marL="0" indent="0" algn="l">
              <a:buNone/>
            </a:pPr>
            <a:r>
              <a:rPr lang="en-US" sz="1500" kern="0" spc="300" dirty="0">
                <a:solidFill>
                  <a:srgbClr val="6B6A65"/>
                </a:solidFill>
                <a:latin typeface="Calibri" pitchFamily="34" charset="0"/>
                <a:ea typeface="Calibri" pitchFamily="34" charset="-122"/>
                <a:cs typeface="Calibri" pitchFamily="34" charset="-120"/>
              </a:rPr>
              <a:t>Pilot · 144 Trials · 6 Open-Weights Models · Groq</a:t>
            </a:r>
            <a:endParaRPr lang="en-US" sz="1500" dirty="0"/>
          </a:p>
        </p:txBody>
      </p:sp>
      <p:sp>
        <p:nvSpPr>
          <p:cNvPr id="24" name="Text 14"/>
          <p:cNvSpPr txBox="1"/>
          <p:nvPr/>
        </p:nvSpPr>
        <p:spPr>
          <a:xfrm>
            <a:off x="8686800" y="3662172"/>
            <a:ext cx="4191610" cy="219456"/>
          </a:xfrm>
          <a:prstGeom prst="rect">
            <a:avLst/>
          </a:prstGeom>
          <a:noFill/>
          <a:ln/>
        </p:spPr>
        <p:txBody>
          <a:bodyPr wrap="square" lIns="0" tIns="0" rIns="0" bIns="0" rtlCol="0" anchor="ctr"/>
          <a:lstStyle/>
          <a:p>
            <a:pPr marL="0" indent="0" algn="l">
              <a:buNone/>
            </a:pPr>
            <a:r>
              <a:rPr lang="en-US" sz="1300" kern="0" spc="150" dirty="0">
                <a:solidFill>
                  <a:srgbClr val="6B6A65"/>
                </a:solidFill>
                <a:latin typeface="Calibri" pitchFamily="34" charset="0"/>
                <a:ea typeface="Calibri" pitchFamily="34" charset="-122"/>
                <a:cs typeface="Calibri" pitchFamily="34" charset="-120"/>
              </a:rPr>
              <a:t>Salience</a:t>
            </a:r>
            <a:endParaRPr lang="en-US" sz="1300" dirty="0"/>
          </a:p>
        </p:txBody>
      </p:sp>
      <p:sp>
        <p:nvSpPr>
          <p:cNvPr id="25" name="Text 15"/>
          <p:cNvSpPr txBox="1"/>
          <p:nvPr/>
        </p:nvSpPr>
        <p:spPr>
          <a:xfrm>
            <a:off x="12877495" y="3662172"/>
            <a:ext cx="1143000" cy="219456"/>
          </a:xfrm>
          <a:prstGeom prst="rect">
            <a:avLst/>
          </a:prstGeom>
          <a:noFill/>
          <a:ln/>
        </p:spPr>
        <p:txBody>
          <a:bodyPr wrap="square" lIns="0" tIns="0" rIns="0" bIns="0" rtlCol="0" anchor="ctr"/>
          <a:lstStyle/>
          <a:p>
            <a:pPr marL="0" indent="0" algn="r">
              <a:buNone/>
            </a:pPr>
            <a:r>
              <a:rPr lang="en-US" sz="1300" kern="0" spc="150" dirty="0">
                <a:solidFill>
                  <a:srgbClr val="6B6A65"/>
                </a:solidFill>
                <a:latin typeface="Calibri" pitchFamily="34" charset="0"/>
                <a:ea typeface="Calibri" pitchFamily="34" charset="-122"/>
                <a:cs typeface="Calibri" pitchFamily="34" charset="-120"/>
              </a:rPr>
              <a:t>n</a:t>
            </a:r>
            <a:endParaRPr lang="en-US" sz="1300" dirty="0"/>
          </a:p>
        </p:txBody>
      </p:sp>
      <p:sp>
        <p:nvSpPr>
          <p:cNvPr id="26" name="Text 16"/>
          <p:cNvSpPr txBox="1"/>
          <p:nvPr/>
        </p:nvSpPr>
        <p:spPr>
          <a:xfrm>
            <a:off x="14020495" y="3662172"/>
            <a:ext cx="3124505" cy="219456"/>
          </a:xfrm>
          <a:prstGeom prst="rect">
            <a:avLst/>
          </a:prstGeom>
          <a:noFill/>
          <a:ln/>
        </p:spPr>
        <p:txBody>
          <a:bodyPr wrap="square" lIns="0" tIns="0" rIns="0" bIns="0" rtlCol="0" anchor="ctr"/>
          <a:lstStyle/>
          <a:p>
            <a:pPr marL="0" indent="0" algn="r">
              <a:buNone/>
            </a:pPr>
            <a:r>
              <a:rPr lang="en-US" sz="1300" kern="0" spc="150" dirty="0">
                <a:solidFill>
                  <a:srgbClr val="6B6A65"/>
                </a:solidFill>
                <a:latin typeface="Calibri" pitchFamily="34" charset="0"/>
                <a:ea typeface="Calibri" pitchFamily="34" charset="-122"/>
                <a:cs typeface="Calibri" pitchFamily="34" charset="-120"/>
              </a:rPr>
              <a:t>Violation rate</a:t>
            </a:r>
            <a:endParaRPr lang="en-US" sz="1300" dirty="0"/>
          </a:p>
        </p:txBody>
      </p:sp>
      <p:sp>
        <p:nvSpPr>
          <p:cNvPr id="27" name="Text 17"/>
          <p:cNvSpPr txBox="1"/>
          <p:nvPr/>
        </p:nvSpPr>
        <p:spPr>
          <a:xfrm>
            <a:off x="12877495" y="4390949"/>
            <a:ext cx="1143000" cy="362102"/>
          </a:xfrm>
          <a:prstGeom prst="rect">
            <a:avLst/>
          </a:prstGeom>
          <a:noFill/>
          <a:ln/>
        </p:spPr>
        <p:txBody>
          <a:bodyPr wrap="square" lIns="0" tIns="0" rIns="0" bIns="0" rtlCol="0" anchor="ctr"/>
          <a:lstStyle/>
          <a:p>
            <a:pPr marL="0" indent="0" algn="r">
              <a:buNone/>
            </a:pPr>
            <a:r>
              <a:rPr lang="en-US" sz="2200" dirty="0">
                <a:solidFill>
                  <a:srgbClr val="2E2D29"/>
                </a:solidFill>
                <a:latin typeface="Calibri" pitchFamily="34" charset="0"/>
                <a:ea typeface="Calibri" pitchFamily="34" charset="-122"/>
                <a:cs typeface="Calibri" pitchFamily="34" charset="-120"/>
              </a:rPr>
              <a:t>84</a:t>
            </a:r>
            <a:endParaRPr lang="en-US" sz="2200" dirty="0"/>
          </a:p>
        </p:txBody>
      </p:sp>
      <p:sp>
        <p:nvSpPr>
          <p:cNvPr id="28" name="Text 18"/>
          <p:cNvSpPr txBox="1"/>
          <p:nvPr/>
        </p:nvSpPr>
        <p:spPr>
          <a:xfrm>
            <a:off x="14020495" y="4310482"/>
            <a:ext cx="3124505" cy="523951"/>
          </a:xfrm>
          <a:prstGeom prst="rect">
            <a:avLst/>
          </a:prstGeom>
          <a:noFill/>
          <a:ln/>
        </p:spPr>
        <p:txBody>
          <a:bodyPr wrap="square" lIns="0" tIns="0" rIns="0" bIns="0" rtlCol="0" anchor="ctr"/>
          <a:lstStyle/>
          <a:p>
            <a:pPr marL="0" indent="0" algn="r">
              <a:buNone/>
            </a:pPr>
            <a:r>
              <a:rPr lang="en-US" sz="3600" dirty="0">
                <a:solidFill>
                  <a:srgbClr val="2E2D29"/>
                </a:solidFill>
                <a:latin typeface="Georgia" pitchFamily="34" charset="0"/>
                <a:ea typeface="Georgia" pitchFamily="34" charset="-122"/>
                <a:cs typeface="Georgia" pitchFamily="34" charset="-120"/>
              </a:rPr>
              <a:t>1.2%</a:t>
            </a:r>
            <a:endParaRPr lang="en-US" sz="3600" dirty="0"/>
          </a:p>
        </p:txBody>
      </p:sp>
      <p:sp>
        <p:nvSpPr>
          <p:cNvPr id="29" name="Text 19"/>
          <p:cNvSpPr txBox="1"/>
          <p:nvPr/>
        </p:nvSpPr>
        <p:spPr>
          <a:xfrm>
            <a:off x="8570671" y="4433811"/>
            <a:ext cx="726034" cy="342900"/>
          </a:xfrm>
          <a:prstGeom prst="rect">
            <a:avLst/>
          </a:prstGeom>
          <a:noFill/>
          <a:ln/>
        </p:spPr>
        <p:txBody>
          <a:bodyPr wrap="square" lIns="0" tIns="0" rIns="0" bIns="0" rtlCol="0" anchor="ctr"/>
          <a:lstStyle/>
          <a:p>
            <a:pPr marL="0" indent="0" algn="l">
              <a:buNone/>
            </a:pPr>
            <a:r>
              <a:rPr lang="en-US" sz="2400" dirty="0">
                <a:solidFill>
                  <a:srgbClr val="2E2D29"/>
                </a:solidFill>
                <a:latin typeface="Georgia" pitchFamily="34" charset="0"/>
                <a:ea typeface="Georgia" pitchFamily="34" charset="-122"/>
                <a:cs typeface="Georgia" pitchFamily="34" charset="-120"/>
              </a:rPr>
              <a:t>High</a:t>
            </a:r>
            <a:endParaRPr lang="en-US" sz="2400" dirty="0"/>
          </a:p>
        </p:txBody>
      </p:sp>
      <p:sp>
        <p:nvSpPr>
          <p:cNvPr id="30" name="Text 20"/>
          <p:cNvSpPr txBox="1"/>
          <p:nvPr/>
        </p:nvSpPr>
        <p:spPr>
          <a:xfrm>
            <a:off x="9296705" y="4490618"/>
            <a:ext cx="3893515" cy="219456"/>
          </a:xfrm>
          <a:prstGeom prst="rect">
            <a:avLst/>
          </a:prstGeom>
          <a:noFill/>
          <a:ln/>
        </p:spPr>
        <p:txBody>
          <a:bodyPr wrap="square" lIns="0" tIns="0" rIns="0" bIns="0" rtlCol="0" anchor="ctr"/>
          <a:lstStyle/>
          <a:p>
            <a:pPr marL="0" indent="0" algn="l">
              <a:buNone/>
            </a:pPr>
            <a:r>
              <a:rPr lang="en-US" sz="1600" dirty="0">
                <a:solidFill>
                  <a:srgbClr val="6B6A65"/>
                </a:solidFill>
                <a:latin typeface="Calibri" pitchFamily="34" charset="0"/>
                <a:ea typeface="Calibri" pitchFamily="34" charset="-122"/>
                <a:cs typeface="Calibri" pitchFamily="34" charset="-120"/>
              </a:rPr>
              <a:t>— prohibition at top of system prompt</a:t>
            </a:r>
            <a:endParaRPr lang="en-US" sz="1600" dirty="0"/>
          </a:p>
        </p:txBody>
      </p:sp>
      <p:sp>
        <p:nvSpPr>
          <p:cNvPr id="31" name="Text 21"/>
          <p:cNvSpPr txBox="1"/>
          <p:nvPr/>
        </p:nvSpPr>
        <p:spPr>
          <a:xfrm>
            <a:off x="12877495" y="5419649"/>
            <a:ext cx="1143000" cy="362102"/>
          </a:xfrm>
          <a:prstGeom prst="rect">
            <a:avLst/>
          </a:prstGeom>
          <a:noFill/>
          <a:ln/>
        </p:spPr>
        <p:txBody>
          <a:bodyPr wrap="square" lIns="0" tIns="0" rIns="0" bIns="0" rtlCol="0" anchor="ctr"/>
          <a:lstStyle/>
          <a:p>
            <a:pPr marL="0" indent="0" algn="r">
              <a:buNone/>
            </a:pPr>
            <a:r>
              <a:rPr lang="en-US" sz="2200" dirty="0">
                <a:solidFill>
                  <a:srgbClr val="2E2D29"/>
                </a:solidFill>
                <a:latin typeface="Calibri" pitchFamily="34" charset="0"/>
                <a:ea typeface="Calibri" pitchFamily="34" charset="-122"/>
                <a:cs typeface="Calibri" pitchFamily="34" charset="-120"/>
              </a:rPr>
              <a:t>60</a:t>
            </a:r>
            <a:endParaRPr lang="en-US" sz="2200" dirty="0"/>
          </a:p>
        </p:txBody>
      </p:sp>
      <p:sp>
        <p:nvSpPr>
          <p:cNvPr id="32" name="Text 22"/>
          <p:cNvSpPr txBox="1"/>
          <p:nvPr/>
        </p:nvSpPr>
        <p:spPr>
          <a:xfrm>
            <a:off x="14020495" y="5339182"/>
            <a:ext cx="3124505" cy="523951"/>
          </a:xfrm>
          <a:prstGeom prst="rect">
            <a:avLst/>
          </a:prstGeom>
          <a:noFill/>
          <a:ln/>
        </p:spPr>
        <p:txBody>
          <a:bodyPr wrap="square" lIns="0" tIns="0" rIns="0" bIns="0" rtlCol="0" anchor="ctr"/>
          <a:lstStyle/>
          <a:p>
            <a:pPr marL="0" indent="0" algn="r">
              <a:buNone/>
            </a:pPr>
            <a:r>
              <a:rPr lang="en-US" sz="3600" b="1" dirty="0">
                <a:solidFill>
                  <a:srgbClr val="8C1515"/>
                </a:solidFill>
                <a:latin typeface="Georgia" pitchFamily="34" charset="0"/>
                <a:ea typeface="Georgia" pitchFamily="34" charset="-122"/>
                <a:cs typeface="Georgia" pitchFamily="34" charset="-120"/>
              </a:rPr>
              <a:t>23.3%</a:t>
            </a:r>
            <a:endParaRPr lang="en-US" sz="3600" dirty="0"/>
          </a:p>
        </p:txBody>
      </p:sp>
      <p:sp>
        <p:nvSpPr>
          <p:cNvPr id="33" name="Text 23"/>
          <p:cNvSpPr txBox="1"/>
          <p:nvPr/>
        </p:nvSpPr>
        <p:spPr>
          <a:xfrm>
            <a:off x="8601418" y="5415420"/>
            <a:ext cx="711746" cy="404736"/>
          </a:xfrm>
          <a:prstGeom prst="rect">
            <a:avLst/>
          </a:prstGeom>
          <a:noFill/>
          <a:ln/>
        </p:spPr>
        <p:txBody>
          <a:bodyPr wrap="square" lIns="0" tIns="0" rIns="0" bIns="0" rtlCol="0" anchor="ctr"/>
          <a:lstStyle/>
          <a:p>
            <a:pPr marL="0" indent="0" algn="l">
              <a:buNone/>
            </a:pPr>
            <a:r>
              <a:rPr lang="en-US" sz="2400" dirty="0">
                <a:solidFill>
                  <a:srgbClr val="2E2D29"/>
                </a:solidFill>
                <a:latin typeface="Georgia" pitchFamily="34" charset="0"/>
                <a:ea typeface="Georgia" pitchFamily="34" charset="-122"/>
                <a:cs typeface="Georgia" pitchFamily="34" charset="-120"/>
              </a:rPr>
              <a:t>Low</a:t>
            </a:r>
            <a:endParaRPr lang="en-US" sz="2400" dirty="0"/>
          </a:p>
        </p:txBody>
      </p:sp>
      <p:sp>
        <p:nvSpPr>
          <p:cNvPr id="34" name="Text 24"/>
          <p:cNvSpPr txBox="1"/>
          <p:nvPr/>
        </p:nvSpPr>
        <p:spPr>
          <a:xfrm>
            <a:off x="9245498" y="5519318"/>
            <a:ext cx="2686507" cy="219456"/>
          </a:xfrm>
          <a:prstGeom prst="rect">
            <a:avLst/>
          </a:prstGeom>
          <a:noFill/>
          <a:ln/>
        </p:spPr>
        <p:txBody>
          <a:bodyPr wrap="square" lIns="0" tIns="0" rIns="0" bIns="0" rtlCol="0" anchor="ctr"/>
          <a:lstStyle/>
          <a:p>
            <a:pPr marL="0" indent="0" algn="l">
              <a:buNone/>
            </a:pPr>
            <a:r>
              <a:rPr lang="en-US" sz="1600" dirty="0">
                <a:solidFill>
                  <a:srgbClr val="6B6A65"/>
                </a:solidFill>
                <a:latin typeface="Calibri" pitchFamily="34" charset="0"/>
                <a:ea typeface="Calibri" pitchFamily="34" charset="-122"/>
                <a:cs typeface="Calibri" pitchFamily="34" charset="-120"/>
              </a:rPr>
              <a:t>— prohibition mid-prompt</a:t>
            </a:r>
            <a:endParaRPr lang="en-US" sz="1600" dirty="0"/>
          </a:p>
        </p:txBody>
      </p:sp>
      <p:sp>
        <p:nvSpPr>
          <p:cNvPr id="35" name="Text 25"/>
          <p:cNvSpPr txBox="1"/>
          <p:nvPr/>
        </p:nvSpPr>
        <p:spPr>
          <a:xfrm>
            <a:off x="8686800" y="6381598"/>
            <a:ext cx="10744200" cy="457200"/>
          </a:xfrm>
          <a:prstGeom prst="rect">
            <a:avLst/>
          </a:prstGeom>
          <a:noFill/>
          <a:ln/>
        </p:spPr>
        <p:txBody>
          <a:bodyPr wrap="square" lIns="0" tIns="0" rIns="0" bIns="0" rtlCol="0" anchor="ctr"/>
          <a:lstStyle/>
          <a:p>
            <a:pPr marL="0" indent="0" algn="l">
              <a:buNone/>
            </a:pPr>
            <a:r>
              <a:rPr lang="en-US" sz="2800" dirty="0">
                <a:solidFill>
                  <a:srgbClr val="8C1515"/>
                </a:solidFill>
                <a:latin typeface="Georgia" pitchFamily="34" charset="0"/>
                <a:ea typeface="Georgia" pitchFamily="34" charset="-122"/>
                <a:cs typeface="Georgia" pitchFamily="34" charset="-120"/>
              </a:rPr>
              <a:t>Prohibition salience: a 19× difference in violation rate.</a:t>
            </a:r>
            <a:endParaRPr lang="en-US" sz="2800" dirty="0"/>
          </a:p>
        </p:txBody>
      </p:sp>
      <p:sp>
        <p:nvSpPr>
          <p:cNvPr id="36" name="Shape 26"/>
          <p:cNvSpPr/>
          <p:nvPr/>
        </p:nvSpPr>
        <p:spPr>
          <a:xfrm>
            <a:off x="8686800" y="7810805"/>
            <a:ext cx="8458200" cy="9144"/>
          </a:xfrm>
          <a:prstGeom prst="rect">
            <a:avLst/>
          </a:prstGeom>
          <a:solidFill>
            <a:srgbClr val="D6D2CB"/>
          </a:solidFill>
          <a:ln w="12700">
            <a:solidFill>
              <a:srgbClr val="D6D2CB">
                <a:alpha val="0"/>
              </a:srgbClr>
            </a:solidFill>
            <a:prstDash val="solid"/>
          </a:ln>
        </p:spPr>
        <p:txBody>
          <a:bodyPr/>
          <a:lstStyle/>
          <a:p>
            <a:endParaRPr/>
          </a:p>
        </p:txBody>
      </p:sp>
      <p:sp>
        <p:nvSpPr>
          <p:cNvPr id="37" name="Text 27"/>
          <p:cNvSpPr txBox="1"/>
          <p:nvPr/>
        </p:nvSpPr>
        <p:spPr>
          <a:xfrm>
            <a:off x="8686800" y="7972654"/>
            <a:ext cx="8458200" cy="886054"/>
          </a:xfrm>
          <a:prstGeom prst="rect">
            <a:avLst/>
          </a:prstGeom>
          <a:solidFill>
            <a:srgbClr val="FFFFFF">
              <a:alpha val="0"/>
            </a:srgbClr>
          </a:solidFill>
          <a:ln>
            <a:solidFill>
              <a:srgbClr val="FFFFFF">
                <a:alpha val="0"/>
              </a:srgbClr>
            </a:solidFill>
          </a:ln>
        </p:spPr>
        <p:txBody>
          <a:bodyPr wrap="square" lIns="152400" tIns="0" rIns="152400" bIns="152400" rtlCol="0" anchor="ctr"/>
          <a:lstStyle/>
          <a:p>
            <a:pPr marL="0" indent="0" algn="l">
              <a:buNone/>
            </a:pPr>
            <a:r>
              <a:rPr lang="en-US" sz="1500" dirty="0">
                <a:solidFill>
                  <a:srgbClr val="6B6A65"/>
                </a:solidFill>
                <a:latin typeface="Calibri" pitchFamily="34" charset="0"/>
                <a:ea typeface="Calibri" pitchFamily="34" charset="-122"/>
                <a:cs typeface="Calibri" pitchFamily="34" charset="-120"/>
              </a:rPr>
              <a:t> Partition is empirically realizable: 11 HIUA-candidate vs. 4 KBV trials — the 2×4×2 cell structure produces non-trivial occupancy in both.</a:t>
            </a:r>
            <a:endParaRPr lang="en-US" sz="1500" dirty="0"/>
          </a:p>
          <a:p>
            <a:pPr marL="0" indent="0" algn="l">
              <a:buNone/>
            </a:pPr>
            <a:r>
              <a:rPr lang="en-US" sz="1500" dirty="0">
                <a:solidFill>
                  <a:srgbClr val="9A9893"/>
                </a:solidFill>
                <a:latin typeface="Calibri" pitchFamily="34" charset="0"/>
                <a:ea typeface="Calibri" pitchFamily="34" charset="-122"/>
                <a:cs typeface="Calibri" pitchFamily="34" charset="-120"/>
              </a:rPr>
              <a:t>Single-seed pilot · κ = 0.419 on the most-reliable judge pair · per-model rates lack standard errors.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4F4F4"/>
          </a:solidFill>
          <a:ln w="12700">
            <a:solidFill>
              <a:srgbClr val="FFFFFF">
                <a:alpha val="0"/>
              </a:srgbClr>
            </a:solidFill>
            <a:prstDash val="solid"/>
          </a:ln>
        </p:spPr>
        <p:txBody>
          <a:bodyPr/>
          <a:lstStyle/>
          <a:p>
            <a:endParaRPr/>
          </a:p>
        </p:txBody>
      </p:sp>
      <p:pic>
        <p:nvPicPr>
          <p:cNvPr id="3" name="Image 0" descr="gen-dedup-b88fe25b682e026cc55145c419e90482.png"/>
          <p:cNvPicPr>
            <a:picLocks noChangeAspect="1"/>
          </p:cNvPicPr>
          <p:nvPr/>
        </p:nvPicPr>
        <p:blipFill>
          <a:blip r:embed="rId3"/>
          <a:srcRect l="-404" r="-404"/>
          <a:stretch/>
        </p:blipFill>
        <p:spPr>
          <a:xfrm>
            <a:off x="1143000" y="2819095"/>
            <a:ext cx="1143000" cy="28346"/>
          </a:xfrm>
          <a:prstGeom prst="rect">
            <a:avLst/>
          </a:prstGeom>
        </p:spPr>
      </p:pic>
      <p:pic>
        <p:nvPicPr>
          <p:cNvPr id="4" name="Image 1" descr="gen-dedup-1264310917913b4735077646bdc0c241.png"/>
          <p:cNvPicPr>
            <a:picLocks noChangeAspect="1"/>
          </p:cNvPicPr>
          <p:nvPr/>
        </p:nvPicPr>
        <p:blipFill>
          <a:blip r:embed="rId4"/>
          <a:srcRect l="-2083" r="-2083"/>
          <a:stretch/>
        </p:blipFill>
        <p:spPr>
          <a:xfrm>
            <a:off x="1143000" y="9144000"/>
            <a:ext cx="16002000" cy="9144"/>
          </a:xfrm>
          <a:prstGeom prst="rect">
            <a:avLst/>
          </a:prstGeom>
        </p:spPr>
      </p:pic>
      <p:sp>
        <p:nvSpPr>
          <p:cNvPr id="5" name="Text 1"/>
          <p:cNvSpPr txBox="1"/>
          <p:nvPr/>
        </p:nvSpPr>
        <p:spPr>
          <a:xfrm>
            <a:off x="16763695" y="609905"/>
            <a:ext cx="914400" cy="219456"/>
          </a:xfrm>
          <a:prstGeom prst="rect">
            <a:avLst/>
          </a:prstGeom>
          <a:noFill/>
          <a:ln/>
        </p:spPr>
        <p:txBody>
          <a:bodyPr wrap="square" lIns="0" tIns="0" rIns="0" bIns="0" rtlCol="0" anchor="ctr"/>
          <a:lstStyle/>
          <a:p>
            <a:pPr marL="0" indent="0" algn="r">
              <a:buNone/>
            </a:pPr>
            <a:r>
              <a:rPr lang="en-US" sz="1300" kern="0" spc="225" dirty="0">
                <a:solidFill>
                  <a:srgbClr val="9A9893"/>
                </a:solidFill>
                <a:latin typeface="Calibri" pitchFamily="34" charset="0"/>
                <a:ea typeface="Calibri" pitchFamily="34" charset="-122"/>
                <a:cs typeface="Calibri" pitchFamily="34" charset="-120"/>
              </a:rPr>
              <a:t>06 / 06</a:t>
            </a:r>
            <a:endParaRPr lang="en-US" sz="1300" dirty="0"/>
          </a:p>
        </p:txBody>
      </p:sp>
      <p:sp>
        <p:nvSpPr>
          <p:cNvPr id="6" name="Text 2"/>
          <p:cNvSpPr txBox="1"/>
          <p:nvPr/>
        </p:nvSpPr>
        <p:spPr>
          <a:xfrm>
            <a:off x="1143000" y="914400"/>
            <a:ext cx="15240305" cy="228600"/>
          </a:xfrm>
          <a:prstGeom prst="rect">
            <a:avLst/>
          </a:prstGeom>
          <a:noFill/>
          <a:ln/>
        </p:spPr>
        <p:txBody>
          <a:bodyPr wrap="square" lIns="0" tIns="0" rIns="0" bIns="0" rtlCol="0" anchor="ctr"/>
          <a:lstStyle/>
          <a:p>
            <a:pPr marL="0" indent="0" algn="l">
              <a:buNone/>
            </a:pPr>
            <a:r>
              <a:rPr lang="en-US" sz="1500" kern="0" spc="375" dirty="0">
                <a:solidFill>
                  <a:srgbClr val="8C1515"/>
                </a:solidFill>
                <a:latin typeface="Calibri" pitchFamily="34" charset="0"/>
                <a:ea typeface="Calibri" pitchFamily="34" charset="-122"/>
                <a:cs typeface="Calibri" pitchFamily="34" charset="-120"/>
              </a:rPr>
              <a:t>What This Licenses, and What It Does Not</a:t>
            </a:r>
            <a:endParaRPr lang="en-US" sz="1500" dirty="0"/>
          </a:p>
        </p:txBody>
      </p:sp>
      <p:sp>
        <p:nvSpPr>
          <p:cNvPr id="7" name="Text 3"/>
          <p:cNvSpPr txBox="1"/>
          <p:nvPr/>
        </p:nvSpPr>
        <p:spPr>
          <a:xfrm>
            <a:off x="1143000" y="1410005"/>
            <a:ext cx="16002000" cy="1105510"/>
          </a:xfrm>
          <a:prstGeom prst="rect">
            <a:avLst/>
          </a:prstGeom>
          <a:noFill/>
          <a:ln/>
        </p:spPr>
        <p:txBody>
          <a:bodyPr wrap="square" lIns="0" tIns="0" rIns="0" bIns="0" rtlCol="0" anchor="ctr"/>
          <a:lstStyle/>
          <a:p>
            <a:pPr marL="0" indent="0" algn="l">
              <a:buNone/>
            </a:pPr>
            <a:r>
              <a:rPr lang="en-US" sz="3600" dirty="0">
                <a:solidFill>
                  <a:srgbClr val="2E2D29"/>
                </a:solidFill>
                <a:latin typeface="Georgia" pitchFamily="34" charset="0"/>
                <a:ea typeface="Georgia" pitchFamily="34" charset="-122"/>
                <a:cs typeface="Georgia" pitchFamily="34" charset="-120"/>
              </a:rPr>
              <a:t> Smaller and on-construct beats larger and confounded</a:t>
            </a:r>
            <a:endParaRPr lang="en-US" sz="3600" dirty="0"/>
          </a:p>
          <a:p>
            <a:pPr marL="0" indent="0" algn="l">
              <a:buNone/>
            </a:pPr>
            <a:r>
              <a:rPr lang="en-US" sz="3600" dirty="0">
                <a:solidFill>
                  <a:srgbClr val="2E2D29"/>
                </a:solidFill>
                <a:latin typeface="Georgia" pitchFamily="34" charset="0"/>
                <a:ea typeface="Georgia" pitchFamily="34" charset="-122"/>
                <a:cs typeface="Georgia" pitchFamily="34" charset="-120"/>
              </a:rPr>
              <a:t>when the cost is irreversible. </a:t>
            </a:r>
            <a:endParaRPr lang="en-US" sz="3600" dirty="0"/>
          </a:p>
        </p:txBody>
      </p:sp>
      <p:sp>
        <p:nvSpPr>
          <p:cNvPr id="8" name="Shape 4"/>
          <p:cNvSpPr/>
          <p:nvPr/>
        </p:nvSpPr>
        <p:spPr>
          <a:xfrm>
            <a:off x="1143000" y="3353105"/>
            <a:ext cx="5143500" cy="28346"/>
          </a:xfrm>
          <a:prstGeom prst="rect">
            <a:avLst/>
          </a:prstGeom>
          <a:solidFill>
            <a:srgbClr val="8C1515"/>
          </a:solidFill>
          <a:ln w="12700">
            <a:solidFill>
              <a:srgbClr val="8C1515">
                <a:alpha val="0"/>
              </a:srgbClr>
            </a:solidFill>
            <a:prstDash val="solid"/>
          </a:ln>
        </p:spPr>
        <p:txBody>
          <a:bodyPr/>
          <a:lstStyle/>
          <a:p>
            <a:endParaRPr/>
          </a:p>
        </p:txBody>
      </p:sp>
      <p:sp>
        <p:nvSpPr>
          <p:cNvPr id="9" name="Text 5"/>
          <p:cNvSpPr txBox="1"/>
          <p:nvPr/>
        </p:nvSpPr>
        <p:spPr>
          <a:xfrm>
            <a:off x="1143000" y="3534156"/>
            <a:ext cx="5143500" cy="228600"/>
          </a:xfrm>
          <a:prstGeom prst="rect">
            <a:avLst/>
          </a:prstGeom>
          <a:noFill/>
          <a:ln/>
        </p:spPr>
        <p:txBody>
          <a:bodyPr wrap="square" lIns="0" tIns="0" rIns="0" bIns="0" rtlCol="0" anchor="ctr"/>
          <a:lstStyle/>
          <a:p>
            <a:pPr marL="0" indent="0" algn="l">
              <a:buNone/>
            </a:pPr>
            <a:r>
              <a:rPr lang="en-US" sz="1200" kern="0" spc="300" dirty="0">
                <a:solidFill>
                  <a:srgbClr val="8C1515"/>
                </a:solidFill>
                <a:latin typeface="Calibri" pitchFamily="34" charset="0"/>
                <a:ea typeface="Calibri" pitchFamily="34" charset="-122"/>
                <a:cs typeface="Calibri" pitchFamily="34" charset="-120"/>
              </a:rPr>
              <a:t>What it supports</a:t>
            </a:r>
            <a:endParaRPr lang="en-US" sz="1200" dirty="0"/>
          </a:p>
        </p:txBody>
      </p:sp>
      <p:sp>
        <p:nvSpPr>
          <p:cNvPr id="10" name="Text 6"/>
          <p:cNvSpPr txBox="1"/>
          <p:nvPr/>
        </p:nvSpPr>
        <p:spPr>
          <a:xfrm>
            <a:off x="1143000" y="3877056"/>
            <a:ext cx="5143500" cy="381305"/>
          </a:xfrm>
          <a:prstGeom prst="rect">
            <a:avLst/>
          </a:prstGeom>
          <a:noFill/>
          <a:ln/>
        </p:spPr>
        <p:txBody>
          <a:bodyPr wrap="square" lIns="0" tIns="0" rIns="0" bIns="0" rtlCol="0" anchor="ctr"/>
          <a:lstStyle/>
          <a:p>
            <a:pPr marL="0" indent="0" algn="l">
              <a:buNone/>
            </a:pPr>
            <a:r>
              <a:rPr lang="en-US" sz="2400" dirty="0">
                <a:solidFill>
                  <a:srgbClr val="2E2D29"/>
                </a:solidFill>
                <a:latin typeface="Georgia" pitchFamily="34" charset="0"/>
                <a:ea typeface="Georgia" pitchFamily="34" charset="-122"/>
                <a:cs typeface="Georgia" pitchFamily="34" charset="-120"/>
              </a:rPr>
              <a:t>What model labs and infrastructure providers can use it for.</a:t>
            </a:r>
            <a:endParaRPr lang="en-US" sz="2400" dirty="0"/>
          </a:p>
        </p:txBody>
      </p:sp>
      <p:sp>
        <p:nvSpPr>
          <p:cNvPr id="11" name="Text 7"/>
          <p:cNvSpPr txBox="1"/>
          <p:nvPr/>
        </p:nvSpPr>
        <p:spPr>
          <a:xfrm>
            <a:off x="1143000" y="4429354"/>
            <a:ext cx="5143500" cy="1257300"/>
          </a:xfrm>
          <a:prstGeom prst="rect">
            <a:avLst/>
          </a:prstGeom>
          <a:noFill/>
          <a:ln/>
        </p:spPr>
        <p:txBody>
          <a:bodyPr wrap="square" lIns="0" tIns="0" rIns="0" bIns="0" rtlCol="0" anchor="ctr"/>
          <a:lstStyle/>
          <a:p>
            <a:pPr marL="0" indent="0" algn="l">
              <a:buNone/>
            </a:pPr>
            <a:r>
              <a:rPr lang="en-US" sz="1600" dirty="0">
                <a:solidFill>
                  <a:srgbClr val="2E2D29"/>
                </a:solidFill>
                <a:latin typeface="Calibri" pitchFamily="34" charset="0"/>
                <a:ea typeface="Calibri" pitchFamily="34" charset="-122"/>
                <a:cs typeface="Calibri" pitchFamily="34" charset="-120"/>
              </a:rPr>
              <a:t> A properly-measured HIUA score licenses the claim that an agent will not, above rate α, hallucinate authorization, state, or tool effect and execute a forbidden action in distribution </a:t>
            </a:r>
            <a:r>
              <a:rPr lang="en-US" sz="1600" i="1" dirty="0">
                <a:solidFill>
                  <a:srgbClr val="2E2D29"/>
                </a:solidFill>
                <a:latin typeface="Calibri" pitchFamily="34" charset="0"/>
                <a:ea typeface="Calibri" pitchFamily="34" charset="-122"/>
                <a:cs typeface="Calibri" pitchFamily="34" charset="-120"/>
              </a:rPr>
              <a:t>D</a:t>
            </a:r>
            <a:r>
              <a:rPr lang="en-US" sz="1600" dirty="0">
                <a:solidFill>
                  <a:srgbClr val="2E2D29"/>
                </a:solidFill>
                <a:latin typeface="Calibri" pitchFamily="34" charset="0"/>
                <a:ea typeface="Calibri" pitchFamily="34" charset="-122"/>
                <a:cs typeface="Calibri" pitchFamily="34" charset="-120"/>
              </a:rPr>
              <a:t>. </a:t>
            </a:r>
            <a:endParaRPr lang="en-US" sz="1600" dirty="0"/>
          </a:p>
        </p:txBody>
      </p:sp>
      <p:sp>
        <p:nvSpPr>
          <p:cNvPr id="12" name="Text 8"/>
          <p:cNvSpPr txBox="1"/>
          <p:nvPr/>
        </p:nvSpPr>
        <p:spPr>
          <a:xfrm>
            <a:off x="1143000" y="5857646"/>
            <a:ext cx="5143500" cy="1257300"/>
          </a:xfrm>
          <a:prstGeom prst="rect">
            <a:avLst/>
          </a:prstGeom>
          <a:noFill/>
          <a:ln/>
        </p:spPr>
        <p:txBody>
          <a:bodyPr wrap="square" lIns="0" tIns="0" rIns="0" bIns="0" rtlCol="0" anchor="ctr"/>
          <a:lstStyle/>
          <a:p>
            <a:pPr marL="0" indent="0" algn="l">
              <a:buNone/>
            </a:pPr>
            <a:r>
              <a:rPr lang="en-US" sz="1600" dirty="0">
                <a:solidFill>
                  <a:srgbClr val="6B6A65"/>
                </a:solidFill>
                <a:latin typeface="Calibri" pitchFamily="34" charset="0"/>
                <a:ea typeface="Calibri" pitchFamily="34" charset="-122"/>
                <a:cs typeface="Calibri" pitchFamily="34" charset="-120"/>
              </a:rPr>
              <a:t>Different mechanisms imply different and non-substitutable interventions. An aggregate violation rate cannot tell a developer whether the right fix is a faithfulness improvement, a perception-grounding improvement, or an instruction-following improvement.</a:t>
            </a:r>
            <a:endParaRPr lang="en-US" sz="1600" dirty="0"/>
          </a:p>
        </p:txBody>
      </p:sp>
      <p:sp>
        <p:nvSpPr>
          <p:cNvPr id="13" name="Shape 9"/>
          <p:cNvSpPr/>
          <p:nvPr/>
        </p:nvSpPr>
        <p:spPr>
          <a:xfrm>
            <a:off x="6782105" y="3353105"/>
            <a:ext cx="5143500" cy="28346"/>
          </a:xfrm>
          <a:prstGeom prst="rect">
            <a:avLst/>
          </a:prstGeom>
          <a:solidFill>
            <a:srgbClr val="2E2D29"/>
          </a:solidFill>
          <a:ln w="12700">
            <a:solidFill>
              <a:srgbClr val="2E2D29">
                <a:alpha val="0"/>
              </a:srgbClr>
            </a:solidFill>
            <a:prstDash val="solid"/>
          </a:ln>
        </p:spPr>
        <p:txBody>
          <a:bodyPr/>
          <a:lstStyle/>
          <a:p>
            <a:endParaRPr/>
          </a:p>
        </p:txBody>
      </p:sp>
      <p:sp>
        <p:nvSpPr>
          <p:cNvPr id="14" name="Text 10"/>
          <p:cNvSpPr txBox="1"/>
          <p:nvPr/>
        </p:nvSpPr>
        <p:spPr>
          <a:xfrm>
            <a:off x="6782105" y="3534156"/>
            <a:ext cx="5143500" cy="228600"/>
          </a:xfrm>
          <a:prstGeom prst="rect">
            <a:avLst/>
          </a:prstGeom>
          <a:noFill/>
          <a:ln/>
        </p:spPr>
        <p:txBody>
          <a:bodyPr wrap="square" lIns="0" tIns="0" rIns="0" bIns="0" rtlCol="0" anchor="ctr"/>
          <a:lstStyle/>
          <a:p>
            <a:pPr marL="0" indent="0" algn="l">
              <a:buNone/>
            </a:pPr>
            <a:r>
              <a:rPr lang="en-US" sz="1200" kern="0" spc="300" dirty="0">
                <a:solidFill>
                  <a:srgbClr val="2E2D29"/>
                </a:solidFill>
                <a:latin typeface="Calibri" pitchFamily="34" charset="0"/>
                <a:ea typeface="Calibri" pitchFamily="34" charset="-122"/>
                <a:cs typeface="Calibri" pitchFamily="34" charset="-120"/>
              </a:rPr>
              <a:t>What it does not</a:t>
            </a:r>
            <a:endParaRPr lang="en-US" sz="1200" dirty="0"/>
          </a:p>
        </p:txBody>
      </p:sp>
      <p:sp>
        <p:nvSpPr>
          <p:cNvPr id="15" name="Text 11"/>
          <p:cNvSpPr txBox="1"/>
          <p:nvPr/>
        </p:nvSpPr>
        <p:spPr>
          <a:xfrm>
            <a:off x="6782105" y="3877056"/>
            <a:ext cx="5143500" cy="381305"/>
          </a:xfrm>
          <a:prstGeom prst="rect">
            <a:avLst/>
          </a:prstGeom>
          <a:noFill/>
          <a:ln/>
        </p:spPr>
        <p:txBody>
          <a:bodyPr wrap="square" lIns="0" tIns="0" rIns="0" bIns="0" rtlCol="0" anchor="ctr"/>
          <a:lstStyle/>
          <a:p>
            <a:pPr marL="0" indent="0" algn="l">
              <a:buNone/>
            </a:pPr>
            <a:r>
              <a:rPr lang="en-US" sz="2400" dirty="0">
                <a:solidFill>
                  <a:srgbClr val="2E2D29"/>
                </a:solidFill>
                <a:latin typeface="Georgia" pitchFamily="34" charset="0"/>
                <a:ea typeface="Georgia" pitchFamily="34" charset="-122"/>
                <a:cs typeface="Georgia" pitchFamily="34" charset="-120"/>
              </a:rPr>
              <a:t>Transfer to the world.</a:t>
            </a:r>
            <a:endParaRPr lang="en-US" sz="2400" dirty="0"/>
          </a:p>
        </p:txBody>
      </p:sp>
      <p:sp>
        <p:nvSpPr>
          <p:cNvPr id="16" name="Text 12"/>
          <p:cNvSpPr txBox="1"/>
          <p:nvPr/>
        </p:nvSpPr>
        <p:spPr>
          <a:xfrm>
            <a:off x="6782105" y="4429354"/>
            <a:ext cx="5143500" cy="943661"/>
          </a:xfrm>
          <a:prstGeom prst="rect">
            <a:avLst/>
          </a:prstGeom>
          <a:noFill/>
          <a:ln/>
        </p:spPr>
        <p:txBody>
          <a:bodyPr wrap="square" lIns="0" tIns="0" rIns="0" bIns="0" rtlCol="0" anchor="ctr"/>
          <a:lstStyle/>
          <a:p>
            <a:pPr marL="0" indent="0" algn="l">
              <a:buNone/>
            </a:pPr>
            <a:r>
              <a:rPr lang="en-US" sz="1600" dirty="0">
                <a:solidFill>
                  <a:srgbClr val="2E2D29"/>
                </a:solidFill>
                <a:latin typeface="Calibri" pitchFamily="34" charset="0"/>
                <a:ea typeface="Calibri" pitchFamily="34" charset="-122"/>
                <a:cs typeface="Calibri" pitchFamily="34" charset="-120"/>
              </a:rPr>
              <a:t>It does not license broader safety claims, narrower safety claims, or transfer from a digital sandbox to physical or lethal deployment.</a:t>
            </a:r>
            <a:endParaRPr lang="en-US" sz="1600" dirty="0"/>
          </a:p>
        </p:txBody>
      </p:sp>
      <p:sp>
        <p:nvSpPr>
          <p:cNvPr id="17" name="Text 13"/>
          <p:cNvSpPr txBox="1"/>
          <p:nvPr/>
        </p:nvSpPr>
        <p:spPr>
          <a:xfrm>
            <a:off x="6782105" y="5544007"/>
            <a:ext cx="5143500" cy="943661"/>
          </a:xfrm>
          <a:prstGeom prst="rect">
            <a:avLst/>
          </a:prstGeom>
          <a:noFill/>
          <a:ln/>
        </p:spPr>
        <p:txBody>
          <a:bodyPr wrap="square" lIns="0" tIns="0" rIns="0" bIns="0" rtlCol="0" anchor="ctr"/>
          <a:lstStyle/>
          <a:p>
            <a:pPr marL="0" indent="0" algn="l">
              <a:buNone/>
            </a:pPr>
            <a:r>
              <a:rPr lang="en-US" sz="1600" dirty="0">
                <a:solidFill>
                  <a:srgbClr val="6B6A65"/>
                </a:solidFill>
                <a:latin typeface="Calibri" pitchFamily="34" charset="0"/>
                <a:ea typeface="Calibri" pitchFamily="34" charset="-122"/>
                <a:cs typeface="Calibri" pitchFamily="34" charset="-120"/>
              </a:rPr>
              <a:t>The pilot is digital-only. The military framing motivates the consequential argument; the empirical commitment is to tabletop simulators.</a:t>
            </a:r>
            <a:endParaRPr lang="en-US" sz="1600" dirty="0"/>
          </a:p>
        </p:txBody>
      </p:sp>
      <p:sp>
        <p:nvSpPr>
          <p:cNvPr id="18" name="Shape 14"/>
          <p:cNvSpPr/>
          <p:nvPr/>
        </p:nvSpPr>
        <p:spPr>
          <a:xfrm>
            <a:off x="12420295" y="3353105"/>
            <a:ext cx="5143500" cy="28346"/>
          </a:xfrm>
          <a:prstGeom prst="rect">
            <a:avLst/>
          </a:prstGeom>
          <a:solidFill>
            <a:srgbClr val="8C1515"/>
          </a:solidFill>
          <a:ln w="12700">
            <a:solidFill>
              <a:srgbClr val="8C1515">
                <a:alpha val="0"/>
              </a:srgbClr>
            </a:solidFill>
            <a:prstDash val="solid"/>
          </a:ln>
        </p:spPr>
        <p:txBody>
          <a:bodyPr/>
          <a:lstStyle/>
          <a:p>
            <a:endParaRPr/>
          </a:p>
        </p:txBody>
      </p:sp>
      <p:sp>
        <p:nvSpPr>
          <p:cNvPr id="19" name="Text 15"/>
          <p:cNvSpPr txBox="1"/>
          <p:nvPr/>
        </p:nvSpPr>
        <p:spPr>
          <a:xfrm>
            <a:off x="12420295" y="3534156"/>
            <a:ext cx="5143500" cy="228600"/>
          </a:xfrm>
          <a:prstGeom prst="rect">
            <a:avLst/>
          </a:prstGeom>
          <a:noFill/>
          <a:ln/>
        </p:spPr>
        <p:txBody>
          <a:bodyPr wrap="square" lIns="0" tIns="0" rIns="0" bIns="0" rtlCol="0" anchor="ctr"/>
          <a:lstStyle/>
          <a:p>
            <a:pPr marL="0" indent="0" algn="l">
              <a:buNone/>
            </a:pPr>
            <a:r>
              <a:rPr lang="en-US" sz="1200" kern="0" spc="300" dirty="0">
                <a:solidFill>
                  <a:srgbClr val="8C1515"/>
                </a:solidFill>
                <a:latin typeface="Calibri" pitchFamily="34" charset="0"/>
                <a:ea typeface="Calibri" pitchFamily="34" charset="-122"/>
                <a:cs typeface="Calibri" pitchFamily="34" charset="-120"/>
              </a:rPr>
              <a:t>Recommendation</a:t>
            </a:r>
            <a:endParaRPr lang="en-US" sz="1200" dirty="0"/>
          </a:p>
        </p:txBody>
      </p:sp>
      <p:sp>
        <p:nvSpPr>
          <p:cNvPr id="20" name="Text 16"/>
          <p:cNvSpPr txBox="1"/>
          <p:nvPr/>
        </p:nvSpPr>
        <p:spPr>
          <a:xfrm>
            <a:off x="12420295" y="3877056"/>
            <a:ext cx="5143500" cy="762610"/>
          </a:xfrm>
          <a:prstGeom prst="rect">
            <a:avLst/>
          </a:prstGeom>
          <a:noFill/>
          <a:ln/>
        </p:spPr>
        <p:txBody>
          <a:bodyPr wrap="square" lIns="0" tIns="0" rIns="0" bIns="0" rtlCol="0" anchor="ctr"/>
          <a:lstStyle/>
          <a:p>
            <a:pPr marL="0" indent="0" algn="l">
              <a:buNone/>
            </a:pPr>
            <a:r>
              <a:rPr lang="en-US" sz="2400" dirty="0">
                <a:solidFill>
                  <a:srgbClr val="2E2D29"/>
                </a:solidFill>
                <a:latin typeface="Georgia" pitchFamily="34" charset="0"/>
                <a:ea typeface="Georgia" pitchFamily="34" charset="-122"/>
                <a:cs typeface="Georgia" pitchFamily="34" charset="-120"/>
              </a:rPr>
              <a:t>Consequential validity as test-developer responsibility.</a:t>
            </a:r>
            <a:endParaRPr lang="en-US" sz="2400" dirty="0"/>
          </a:p>
        </p:txBody>
      </p:sp>
      <p:sp>
        <p:nvSpPr>
          <p:cNvPr id="21" name="Text 17"/>
          <p:cNvSpPr txBox="1"/>
          <p:nvPr/>
        </p:nvSpPr>
        <p:spPr>
          <a:xfrm>
            <a:off x="12420295" y="4809744"/>
            <a:ext cx="5143500" cy="943661"/>
          </a:xfrm>
          <a:prstGeom prst="rect">
            <a:avLst/>
          </a:prstGeom>
          <a:noFill/>
          <a:ln/>
        </p:spPr>
        <p:txBody>
          <a:bodyPr wrap="square" lIns="0" tIns="0" rIns="0" bIns="0" rtlCol="0" anchor="ctr"/>
          <a:lstStyle/>
          <a:p>
            <a:pPr marL="0" indent="0" algn="l">
              <a:buNone/>
            </a:pPr>
            <a:r>
              <a:rPr lang="en-US" sz="1600" dirty="0">
                <a:solidFill>
                  <a:srgbClr val="2E2D29"/>
                </a:solidFill>
                <a:latin typeface="Calibri" pitchFamily="34" charset="0"/>
                <a:ea typeface="Calibri" pitchFamily="34" charset="-122"/>
                <a:cs typeface="Calibri" pitchFamily="34" charset="-120"/>
              </a:rPr>
              <a:t>Gated release with AgentHarm-style harm-score controls. No public leaderboard. Accompanied by a developer-signed deployment-claim audit.</a:t>
            </a:r>
            <a:endParaRPr lang="en-US" sz="1600" dirty="0"/>
          </a:p>
        </p:txBody>
      </p:sp>
      <p:sp>
        <p:nvSpPr>
          <p:cNvPr id="22" name="Text 18"/>
          <p:cNvSpPr txBox="1"/>
          <p:nvPr/>
        </p:nvSpPr>
        <p:spPr>
          <a:xfrm>
            <a:off x="12420295" y="5924398"/>
            <a:ext cx="5143500" cy="943661"/>
          </a:xfrm>
          <a:prstGeom prst="rect">
            <a:avLst/>
          </a:prstGeom>
          <a:noFill/>
          <a:ln/>
        </p:spPr>
        <p:txBody>
          <a:bodyPr wrap="square" lIns="0" tIns="0" rIns="0" bIns="0" rtlCol="0" anchor="ctr"/>
          <a:lstStyle/>
          <a:p>
            <a:pPr marL="0" indent="0" algn="l">
              <a:buNone/>
            </a:pPr>
            <a:r>
              <a:rPr lang="en-US" sz="1600" dirty="0">
                <a:solidFill>
                  <a:srgbClr val="6B6A65"/>
                </a:solidFill>
                <a:latin typeface="Calibri" pitchFamily="34" charset="0"/>
                <a:ea typeface="Calibri" pitchFamily="34" charset="-122"/>
                <a:cs typeface="Calibri" pitchFamily="34" charset="-120"/>
              </a:rPr>
              <a:t>Make consequential validity an explicit object of test-developer responsibility — not a side effect of how the score is later used in the marketplace.</a:t>
            </a:r>
            <a:endParaRPr lang="en-US" sz="1600" dirty="0"/>
          </a:p>
        </p:txBody>
      </p:sp>
      <p:sp>
        <p:nvSpPr>
          <p:cNvPr id="23" name="Text 19"/>
          <p:cNvSpPr txBox="1"/>
          <p:nvPr/>
        </p:nvSpPr>
        <p:spPr>
          <a:xfrm>
            <a:off x="1143000" y="9372600"/>
            <a:ext cx="16002000" cy="228600"/>
          </a:xfrm>
          <a:prstGeom prst="rect">
            <a:avLst/>
          </a:prstGeom>
          <a:noFill/>
          <a:ln/>
        </p:spPr>
        <p:txBody>
          <a:bodyPr wrap="square" lIns="0" tIns="0" rIns="0" bIns="0" rtlCol="0" anchor="ctr"/>
          <a:lstStyle/>
          <a:p>
            <a:pPr marL="0" indent="0" algn="l">
              <a:buNone/>
            </a:pPr>
            <a:r>
              <a:rPr lang="en-US" sz="1500" i="1" dirty="0">
                <a:solidFill>
                  <a:srgbClr val="6B6A65"/>
                </a:solidFill>
                <a:latin typeface="Calibri" pitchFamily="34" charset="0"/>
                <a:ea typeface="Calibri" pitchFamily="34" charset="-122"/>
                <a:cs typeface="Calibri" pitchFamily="34" charset="-120"/>
              </a:rPr>
              <a:t>Repo: github.com/[anonymized]/hiua-bench · Paper available on request · Klosowski &amp; Campeau, Stanford CS321M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TotalTime>
  <Words>1804</Words>
  <Application>Microsoft Macintosh PowerPoint</Application>
  <PresentationFormat>Custom</PresentationFormat>
  <Paragraphs>226</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Jake Klosowski</cp:lastModifiedBy>
  <cp:revision>5</cp:revision>
  <dcterms:created xsi:type="dcterms:W3CDTF">2026-06-03T19:49:29Z</dcterms:created>
  <dcterms:modified xsi:type="dcterms:W3CDTF">2026-06-03T22:45:53Z</dcterms:modified>
</cp:coreProperties>
</file>